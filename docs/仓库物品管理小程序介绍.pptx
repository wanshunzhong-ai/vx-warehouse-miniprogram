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大家好。我们做的这套东西，解决的是一个很具体的麻烦：仓库里的工具，谁拿走了、还剩几件、什么时候少了一件，全靠脑子记和纸笔记。东西一多，账就对不上。</a:t>
            </a:r>
          </a:p>
          <a:p>
            <a:r>
              <a:rPr lang="zh-CN" dirty="0"/>
              <a:t>所以我把整条链路搬到了手机上——采购到货先打码贴码，之后每一次进出库都用扫码完成，谁在什么时候动了哪一件，系统里全留着。手机负责现场干活，电脑那边负责批量打码，两边共用同一份云端账本。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我按五块来讲。</a:t>
            </a:r>
          </a:p>
          <a:p>
            <a:r>
              <a:rPr lang="zh-CN" dirty="0"/>
              <a:t>先是这套系统由哪几部分组成；然后是它用到的技术，这部分我会讲得具体一点，包括为什么选原生开发、为什么后端不留 REST 接口；接着是三套账号各自能做什么；再花五页看真实界面；最后落到从零部署和日常作业的完整链路。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整套东西是三件套。</a:t>
            </a:r>
          </a:p>
          <a:p>
            <a:r>
              <a:rPr lang="zh-CN" dirty="0"/>
              <a:t>手机端是微信小程序，一线员工干活用的；后端是一套云数据库加服务端函数，所有数据和逻辑都收在这里；电脑端是一个离线网页工具，专门批量生成二维码标签。</a:t>
            </a:r>
          </a:p>
          <a:p>
            <a:r>
              <a:rPr lang="zh-CN" dirty="0"/>
              <a:t>三者共用同一份数据，但入口和职责完全分开——我特意这么做的，让干活的人只看到干活需要的界面。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技术选型上我刻意做了减法。</a:t>
            </a:r>
          </a:p>
          <a:p>
            <a:r>
              <a:rPr lang="zh-CN" dirty="0"/>
              <a:t>客户端用微信小程序原生开发，没有引 uni-app 或者 Taro 这类框架。不需要跨端，原生就够了，换来的是零构建、启动更快、包更小。整个小程序一张图片都没有，所有图标都是 CSS 画出来的。</a:t>
            </a:r>
          </a:p>
          <a:p>
            <a:r>
              <a:rPr lang="zh-CN" dirty="0"/>
              <a:t>服务端没有自己的服务器，用托管式 PostgreSQL，业务逻辑全部写成数据库函数。电脑端就是一个双击就能打开的 HTML 文件，完全离线。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有五件事我特别想讲。</a:t>
            </a:r>
          </a:p>
          <a:p>
            <a:r>
              <a:rPr lang="zh-CN" dirty="0"/>
              <a:t>第一，二维码编码器是自己写的，没用任何第三方库。完整实现了纠错编码和掩码评估，所以断网也能出码，手机端和电脑端生成的结果完全一致。</a:t>
            </a:r>
          </a:p>
          <a:p>
            <a:r>
              <a:rPr lang="zh-CN" dirty="0"/>
              <a:t>第二，库存变更只有一个入口。所有加减都走同一个函数，里面加了行级锁，两个人同时扫同一件物品也不会算错，更不会出现负数。</a:t>
            </a:r>
          </a:p>
          <a:p>
            <a:r>
              <a:rPr lang="zh-CN" dirty="0"/>
              <a:t>第三，权限判断写在数据库里，不是写在界面上。有人绕过小程序直接调接口，一样会被拒。</a:t>
            </a:r>
          </a:p>
          <a:p>
            <a:r>
              <a:rPr lang="zh-CN" dirty="0"/>
              <a:t>第四，登录令牌只放在内存里，不落盘，所以每次冷启动都要重新登录。</a:t>
            </a:r>
          </a:p>
          <a:p>
            <a:r>
              <a:rPr lang="zh-CN" dirty="0"/>
              <a:t>第五，改完代码必须跑三套自检脚本，权限分工、登录策略这些容易被改坏的地方都有断言盯着。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数据是单向收口的。</a:t>
            </a:r>
          </a:p>
          <a:p>
            <a:r>
              <a:rPr lang="zh-CN" dirty="0"/>
              <a:t>小程序和电脑端工具都只是入口，真正的写操作全部要带着登录令牌穿过网关，落到数据库函数里，再由函数决定这一行数据能不能改。</a:t>
            </a:r>
          </a:p>
          <a:p>
            <a:r>
              <a:rPr lang="zh-CN" dirty="0"/>
              <a:t>表面上看只有物品表对客户端开放了读取，流水、人员、会话这三张表完全没有开放权限，客户端一行都直接拿不到，只能通过函数拿。这样即使客户端被反编译，也找不到能越权写入的口子。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三套账号的分工是刻意的，跟很多系统正好反过来。</a:t>
            </a:r>
          </a:p>
          <a:p>
            <a:r>
              <a:rPr lang="zh-CN" dirty="0"/>
              <a:t>管理员能建物品、能改人员，但我不给他出入库的权限。管账的和动库存的最好不是同一个人，流水才可信；管理员真正要做的是审批账号、看全局数据。</a:t>
            </a:r>
          </a:p>
          <a:p>
            <a:r>
              <a:rPr lang="zh-CN" dirty="0"/>
              <a:t>主管可以带人干活，也能扫码，但只能管自己招进来的员工，而且只能改启用和停用，碰不了审批——否则自己提交、自己通过，审批就形同虚设。</a:t>
            </a:r>
          </a:p>
          <a:p>
            <a:r>
              <a:rPr lang="zh-CN" dirty="0"/>
              <a:t>员工权限最窄，只扫码，改不了档案也停用不了物品。但留了一个例外：扫到没建过档的新编号，可以现场建档入库，采购到货那天不用等管理员坐在电脑前。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登录之后，三个人看到的是三个不一样的首页。</a:t>
            </a:r>
          </a:p>
          <a:p>
            <a:r>
              <a:rPr lang="zh-CN" dirty="0"/>
              <a:t>管理员看到的是全局数据、人员审批和系统维护；主管多出库存预警和扫码入口；员工最简洁，正中间一个凸起的圆形按钮，一点就是扫码。</a:t>
            </a:r>
          </a:p>
          <a:p>
            <a:r>
              <a:rPr lang="zh-CN" dirty="0"/>
              <a:t>底部导航也是按身份动态装的，不是所有人看到同一套菜单。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物品是整个系统的地基。</a:t>
            </a:r>
          </a:p>
          <a:p>
            <a:r>
              <a:rPr lang="zh-CN" dirty="0"/>
              <a:t>每件物品有编号、分类、规格、货架位置和安全库存。编号按分类自动生成——五金是 A 打头，电气是 B，劳保是 C，看一眼编号就知道属于哪一大类。</a:t>
            </a:r>
          </a:p>
          <a:p>
            <a:r>
              <a:rPr lang="zh-CN" dirty="0"/>
              <a:t>这里有个关键设计：二维码里编的内容就是物品编号本身。所以扫码就等于查档案，不用再查一次数据库。</a:t>
            </a:r>
          </a:p>
          <a:p>
            <a:r>
              <a:rPr lang="zh-CN" dirty="0"/>
              <a:t>低库存的物品会自动标红，点首页上那个数字，能直接钻到底下的清单。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扫码页最上面是入库和出库两个大卡。</a:t>
            </a:r>
          </a:p>
          <a:p>
            <a:r>
              <a:rPr lang="zh-CN" dirty="0"/>
              <a:t>方向一旦选定，会一路带到数量页并且锁住，页面上会出现一条彩色方向条，想换方向得先手动点一下切换。这是刻意的，出入库搞反了，账就反了。</a:t>
            </a:r>
          </a:p>
          <a:p>
            <a:r>
              <a:rPr lang="zh-CN" dirty="0"/>
              <a:t>扫完码计数量，提交之后会有一张回执，告诉你这件东西变动前是多少、变动后是多少。一线的人最想看的其实就是这两个数字。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这一页是几条辅路。</a:t>
            </a:r>
          </a:p>
          <a:p>
            <a:r>
              <a:rPr lang="zh-CN" dirty="0"/>
              <a:t>扫码即建档，扫到一个没见过的编号时，系统会按前缀去找同一族的档案。比如扫到 A-0001-3，它会去找 A-0001 打头的其他件，有就直接套用名称和规格，没有才让人现场填。建档和入库是一次完成的，不会出现建了档却没进账。</a:t>
            </a:r>
          </a:p>
          <a:p>
            <a:r>
              <a:rPr lang="zh-CN" dirty="0"/>
              <a:t>批量导入是给电脑端工具收尾用的：那边导出表格，这边直接粘贴，逐行校验后再落库。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流水是可追溯的核心。</a:t>
            </a:r>
          </a:p>
          <a:p>
            <a:r>
              <a:rPr lang="zh-CN" dirty="0"/>
              <a:t>每一笔都记着谁、什么时候、对哪件物品、是入还是出、数量多少、变动前后的库存各是多少。查的时候可以按人、按物品、按时间段筛，有权限的人还能导出。</a:t>
            </a:r>
          </a:p>
          <a:p>
            <a:r>
              <a:rPr lang="zh-CN" dirty="0"/>
              <a:t>人员这边走的是提交、审批、启用三步，员工不能自己注册。有一个细节我特意做了：像通过并设为主管这种提权操作，一定要再弹一次确认框，点错一次代价太大。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采购到货那天，来的往往是一张 Excel 清单，上面写着五把扳手、三卷胶带。</a:t>
            </a:r>
          </a:p>
          <a:p>
            <a:r>
              <a:rPr lang="zh-CN" dirty="0"/>
              <a:t>电脑端这个工具就是处理这张清单的：粘贴进去，它会按数量把每一件拆成独立编号，五把扳手就是 A-0001-1 到 A-0001-5，一物一码。然后生成标签，直接调浏览器打印。</a:t>
            </a:r>
          </a:p>
          <a:p>
            <a:r>
              <a:rPr lang="zh-CN" dirty="0"/>
              <a:t>它是纯离线的单文件网页，双击就开，不用装任何东西，车间那台没联网的电脑上也能用。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把整条链路串起来就是：采购到货、分类清点、电脑端打码、打印贴码、手机扫码入库，之后每一次领用出库都留流水。</a:t>
            </a:r>
          </a:p>
          <a:p>
            <a:r>
              <a:rPr lang="zh-CN" dirty="0"/>
              <a:t>部署方面，服务端所有函数都导出成了 SQL 脚本，按顺序跑四个文件就能从零重建整套后端，最后一个是可选的演示数据。另外配了一份面向零基础用户的部署手册，一步一步带，不需要懂数据库。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这是我做这套东西想达到的状态：仓库里的每一件工具，都有一个码可以扫，都有一笔账可以查。</a:t>
            </a:r>
          </a:p>
          <a:p>
            <a:r>
              <a:rPr lang="zh-CN" dirty="0"/>
              <a:t>扫码的人不用想流程，管账的人不用猜数据。谢谢大家。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3" Type="http://schemas.openxmlformats.org/officeDocument/2006/relationships/image" Target="media/image3.png" 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4.svg" 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4" Type="http://schemas.openxmlformats.org/officeDocument/2006/relationships/image" Target="media/image3.png" /><Relationship Id="rId2" Type="http://schemas.openxmlformats.org/officeDocument/2006/relationships/image" Target="media/image26.png" /><Relationship Id="rId3" Type="http://schemas.openxmlformats.org/officeDocument/2006/relationships/image" Target="media/image27.png" 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28.png" /><Relationship Id="rId3" Type="http://schemas.openxmlformats.org/officeDocument/2006/relationships/image" Target="media/image29.png" /><Relationship Id="rId4" Type="http://schemas.openxmlformats.org/officeDocument/2006/relationships/image" Target="media/image30.png" 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6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Relationship Id="rId4" Type="http://schemas.openxmlformats.org/officeDocument/2006/relationships/image" Target="media/image7.png" /><Relationship Id="rId2" Type="http://schemas.openxmlformats.org/officeDocument/2006/relationships/image" Target="media/image5.png" 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5" Type="http://schemas.openxmlformats.org/officeDocument/2006/relationships/image" Target="media/image12.png" 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Relationship Id="rId4" Type="http://schemas.openxmlformats.org/officeDocument/2006/relationships/image" Target="media/image16.png" /><Relationship Id="rId2" Type="http://schemas.openxmlformats.org/officeDocument/2006/relationships/image" Target="media/image14.png" /><Relationship Id="rId3" Type="http://schemas.openxmlformats.org/officeDocument/2006/relationships/image" Target="media/image15.png" 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png" 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3" Type="http://schemas.openxmlformats.org/officeDocument/2006/relationships/image" Target="media/image20.svg" /><Relationship Id="rIdNotes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101418', position: 'relative', padding: 0 }} notes={`大家好。我们做的这套东西，解决的是一个很具体的麻烦：仓库里的工具，谁拿走了、还剩几件、什么时候少了一件，全靠脑子记和纸笔记。东西一多，账就对不上。&#10;&#10;所以我把整条链路搬到了手机上——采购到货先打码贴码，之后每一次进出库都用扫码完成，谁在什么时候动了哪一件，系统里全留着。手机负责现场干活，电脑那边负责批量打码，两边共用同一份云端账本。`}&gt;&#10;&#10;    {/* 背景：主色光晕 + 辅色光晕 */}&#10;    &lt;Box style={{ position: 'absolute', top: -260, right: -180, width: 780, height: 780, borderRadius: 390, background: 'linear-gradient(135deg, rgba(47,109,246,0.55) 0%, rgba(16,20,24,0) 72%)' }} /&gt;&#10;    &lt;Box style={{ position: 'absolute', bottom: -300, left: 260, width: 620, height: 620, borderRadius: 310, background: 'linear-gradient(135deg, rgba(12,166,120,0.30) 0%, rgba(16,20,24,0) 70%)' }} /&gt;&#10;&#10;    {/* 左侧标题块 */}&#10;    &lt;Box style={{ position: 'absolute', left: 84, top: 0, width: 520, height: 630, flexDirection: 'column', justifyContent: 'center' }}&gt;&#10;&#10;        &lt;Box style={{ flexDirection: 'row', alignItems: 'center', gap: 12, marginBottom: 26 }}&gt;&#10;            &lt;Box style={{ width: 34, height: 4, background: '#2F6DF6', borderRadius: 2 }} /&gt;&#10;            &lt;Text style={{ fontSize: 14, color: '#7C93C4', letterSpacing: 4 }}&gt;INTERNAL WAREHOUSE SYSTEM&lt;/Text&gt;&#10;        &lt;/Box&gt;&#10;&#10;        &lt;Text style={{ fontSize: 62, fontWeight: 'bold', color: '#FFFFFF', lineHeight: 1.18, letterSpacing: 1 }}&gt;&#10;            仓库物品管理&lt;br /&gt;小程序&#10;        &lt;/Text&gt;&#10;&#10;        &lt;Box style={{ width: 76, height: 5, background: '#2F6DF6', borderRadius: 3, marginTop: 28, marginBottom: 26 }} /&gt;&#10;&#10;        &lt;Text style={{ fontSize: 21, color: '#C6D2E8', lineHeight: 1.75 }}&gt;&#10;            物品建档 · 二维码标签 · 手机扫码进出库 · 流水追溯&#10;        &lt;/Text&gt;&#10;&#10;        &lt;Text style={{ fontSize: 16, color: '#6F84A8', lineHeight: 1.8, marginTop: 14 }}&gt;&#10;            微信小程序 + 云数据库 + 电脑端离线打码工具，&lt;br /&gt;一名管理员、一名主管、几名员工即可运转整套仓库账。&#10;        &lt;/Text&gt;&#10;&#10;        &lt;Box style={{ flexDirection: 'row', gap: 10, marginTop: 34 }}&gt;&#10;            &lt;Box style={{ paddingLeft: 14, paddingRight: 14, paddingTop: 7, paddingBottom: 7, borderRadius: 20, border: '1px solid rgba(47,109,246,0.55)', background: 'rgba(47,109,246,0.14)' }}&gt;&#10;                &lt;Text style={{ fontSize: 13, color: '#8FB4FF' }}&gt;手机端 · 小程序&lt;/Text&gt;&#10;            &lt;/Box&gt;&#10;            &lt;Box style={{ paddingLeft: 14, paddingRight: 14, paddingTop: 7, paddingBottom: 7, borderRadius: 20, border: '1px solid rgba(12,166,120,0.55)', background: 'rgba(12,166,120,0.14)' }}&gt;&#10;                &lt;Text style={{ fontSize: 13, color: '#63D4AC' }}&gt;后端 · 云数据库&lt;/Text&gt;&#10;            &lt;/Box&gt;&#10;            &lt;Box style={{ paddingLeft: 14, paddingRight: 14, paddingTop: 7, paddingBottom: 7, borderRadius: 20, border: '1px solid rgba(249,115,22,0.55)', background: 'rgba(249,115,22,0.14)' }}&gt;&#10;                &lt;Text style={{ fontSize: 13, color: '#FFB077' }}&gt;电脑端 · 打码&lt;/Text&gt;&#10;            &lt;/Box&gt;&#10;        &lt;/Box&gt;&#10;&#10;    &lt;/Box&gt;&#10;&#10;    {/* 右侧三台手机叠排 */}&#10;    &lt;Box style={{ position: 'absolute', left: 646, top: 196, width: 190, height: 410, opacity: 0.42 }}&gt;&#10;        &lt;Image src='assets/ui_login.png' style={{ width: 190, height: 410, borderRadius: 18, border: '1px solid rgba(255,255,255,0.18)' }} /&gt;&#10;    &lt;/Box&gt;&#10;&#10;    &lt;Box style={{ position: 'absolute', left: 796, top: 168, width: 206, height: 444, opacity: 0.72 }}&gt;&#10;        &lt;Image src='assets/ui_items.png' style={{ width: 206, height: 444, borderRadius: 20, border: '1px solid rgba(255,255,255,0.22)' }} /&gt;&#10;    &lt;/Box&gt;&#10;&#10;    &lt;Box style={{ position: 'absolute', left: 966, top: 132, width: 226, height: 488, boxShadow: '0 24px 60px rgba(0,0,0,0.55)' }}&gt;&#10;        &lt;Image src='assets/ui_home_staff.png' style={{ width: 226, height: 488, borderRadius: 22, border: '1px solid rgba(255,255,255,0.30)' }} /&gt;&#10;    &lt;/Box&gt;&#10;&#10;    {/* 页脚条 */}&#10;    &lt;Box style={{ position: 'absolute', left: 84, top: 664, width: 1112, flexDirection: 'row', justifyContent: 'space-between', alignItems: 'center' }}&gt;&#10;        &lt;Text style={{ fontSize: 13, color: '#4A5A75' }}&gt;仓库物品管理小程序&lt;/Text&gt;&#10;        &lt;Text style={{ fontSize: 13, color: '#4A5A75' }}&gt;01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477000" y="-2476500"/>
            <a:ext cx="7429500" cy="7429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DF6">
                  <a:alpha val="55000"/>
                </a:srgbClr>
              </a:gs>
              <a:gs pos="72000">
                <a:srgbClr val="101418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2476500" y="3810000"/>
            <a:ext cx="5905500" cy="590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A678">
                  <a:alpha val="30000"/>
                </a:srgbClr>
              </a:gs>
              <a:gs pos="70000">
                <a:srgbClr val="101418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00100" y="828675"/>
            <a:ext cx="323850" cy="3810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238250" y="762000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7C93C4"/>
                </a:solidFill>
                <a:latin typeface="Microsoft YaHei"/>
                <a:ea typeface="Microsoft YaHei"/>
              </a:rPr>
              <a:t>INTERNAL WAREHOUSE SYSTEM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1171575"/>
            <a:ext cx="4953000" cy="1676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仓库物品管理</a:t>
            </a:r>
            <a:endParaRPr/>
          </a:p>
          <a:p>
            <a:pPr>
              <a:lnSpc>
                <a:spcPct val="118000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00100" y="3114675"/>
            <a:ext cx="723900" cy="47625"/>
          </a:xfrm>
          <a:prstGeom prst="roundRect">
            <a:avLst>
              <a:gd name="adj" fmla="val 6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4953000" cy="4286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C6D2E8"/>
                </a:solidFill>
                <a:latin typeface="Microsoft YaHei"/>
                <a:ea typeface="Microsoft YaHei"/>
              </a:rPr>
              <a:t>物品建档</a:t>
            </a:r>
            <a:r>
              <a:rPr lang="en-US" sz="1575">
                <a:solidFill>
                  <a:srgbClr val="C6D2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C6D2E8"/>
                </a:solidFill>
                <a:latin typeface="Microsoft YaHei"/>
                <a:ea typeface="Microsoft YaHei"/>
              </a:rPr>
              <a:t>二维码标签</a:t>
            </a:r>
            <a:r>
              <a:rPr lang="en-US" sz="1575">
                <a:solidFill>
                  <a:srgbClr val="C6D2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C6D2E8"/>
                </a:solidFill>
                <a:latin typeface="Microsoft YaHei"/>
                <a:ea typeface="Microsoft YaHei"/>
              </a:rPr>
              <a:t>手机扫码进出库</a:t>
            </a:r>
            <a:r>
              <a:rPr lang="en-US" sz="1575">
                <a:solidFill>
                  <a:srgbClr val="C6D2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C6D2E8"/>
                </a:solidFill>
                <a:latin typeface="Microsoft YaHei"/>
                <a:ea typeface="Microsoft YaHei"/>
              </a:rPr>
              <a:t>流水追溯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3971925"/>
            <a:ext cx="4953000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6F84A8"/>
                </a:solidFill>
                <a:latin typeface="Microsoft YaHei"/>
                <a:ea typeface="Microsoft YaHei"/>
              </a:rPr>
              <a:t>微信小程序</a:t>
            </a:r>
            <a:r>
              <a:rPr lang="en-US" sz="1200">
                <a:solidFill>
                  <a:srgbClr val="6F84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6F84A8"/>
                </a:solidFill>
                <a:latin typeface="Microsoft YaHei"/>
                <a:ea typeface="Microsoft YaHei"/>
              </a:rPr>
              <a:t>云数据库</a:t>
            </a:r>
            <a:r>
              <a:rPr lang="en-US" sz="1200">
                <a:solidFill>
                  <a:srgbClr val="6F84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6F84A8"/>
                </a:solidFill>
                <a:latin typeface="Microsoft YaHei"/>
                <a:ea typeface="Microsoft YaHei"/>
              </a:rPr>
              <a:t>电脑端离线打码工具，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6F84A8"/>
                </a:solidFill>
                <a:latin typeface="Microsoft YaHei"/>
                <a:ea typeface="Microsoft YaHei"/>
              </a:rPr>
              <a:t>一名管理员、一名主管、几名员工即可运转整套仓库账。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00100" y="4962525"/>
            <a:ext cx="1114425" cy="285750"/>
          </a:xfrm>
          <a:prstGeom prst="roundRect">
            <a:avLst>
              <a:gd name="adj" fmla="val 66667"/>
            </a:avLst>
          </a:prstGeom>
          <a:solidFill>
            <a:srgbClr val="2F6DF6">
              <a:alpha val="14000"/>
            </a:srgbClr>
          </a:solidFill>
          <a:ln w="12700">
            <a:solidFill>
              <a:srgbClr val="2F6DF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33450" y="502920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FF"/>
                </a:solidFill>
                <a:latin typeface="Microsoft YaHei"/>
                <a:ea typeface="Microsoft YaHei"/>
              </a:rPr>
              <a:t>手机端</a:t>
            </a:r>
            <a:r>
              <a:rPr lang="en-US" sz="975">
                <a:solidFill>
                  <a:srgbClr val="8FB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FB4FF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9775" y="4962525"/>
            <a:ext cx="1114425" cy="285750"/>
          </a:xfrm>
          <a:prstGeom prst="roundRect">
            <a:avLst>
              <a:gd name="adj" fmla="val 66667"/>
            </a:avLst>
          </a:prstGeom>
          <a:solidFill>
            <a:srgbClr val="0CA678">
              <a:alpha val="14000"/>
            </a:srgbClr>
          </a:solidFill>
          <a:ln w="12700">
            <a:solidFill>
              <a:srgbClr val="0CA678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143125" y="502920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3D4AC"/>
                </a:solidFill>
                <a:latin typeface="Microsoft YaHei"/>
                <a:ea typeface="Microsoft YaHei"/>
              </a:rPr>
              <a:t>后端</a:t>
            </a:r>
            <a:r>
              <a:rPr lang="en-US" sz="975">
                <a:solidFill>
                  <a:srgbClr val="63D4A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3D4AC"/>
                </a:solidFill>
                <a:latin typeface="Microsoft YaHei"/>
                <a:ea typeface="Microsoft YaHei"/>
              </a:rPr>
              <a:t>云数据库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219450" y="4962525"/>
            <a:ext cx="990600" cy="285750"/>
          </a:xfrm>
          <a:prstGeom prst="roundRect">
            <a:avLst>
              <a:gd name="adj" fmla="val 66667"/>
            </a:avLst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352800" y="5029200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B077"/>
                </a:solidFill>
                <a:latin typeface="Microsoft YaHei"/>
                <a:ea typeface="Microsoft YaHei"/>
              </a:rPr>
              <a:t>电脑端</a:t>
            </a:r>
            <a:r>
              <a:rPr lang="en-US" sz="975">
                <a:solidFill>
                  <a:srgbClr val="FFB07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B077"/>
                </a:solidFill>
                <a:latin typeface="Microsoft YaHei"/>
                <a:ea typeface="Microsoft YaHei"/>
              </a:rPr>
              <a:t>打码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153150" y="1866900"/>
            <a:ext cx="1809750" cy="3905250"/>
          </a:xfrm>
          <a:prstGeom prst="rect">
            <a:avLst/>
          </a:prstGeom>
          <a:ln w="12700">
            <a:solidFill>
              <a:srgbClr val="FFFFFF">
                <a:alpha val="756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Id1">
            <a:alphaModFix amt="42000"/>
          </a:blip>
          <a:srcRect l="0" t="171" r="0" b="171"/>
          <a:stretch>
            <a:fillRect/>
          </a:stretch>
        </p:blipFill>
        <p:spPr>
          <a:xfrm rot="0" flipH="0" flipV="0">
            <a:off x="6153150" y="1866900"/>
            <a:ext cx="1809750" cy="3905250"/>
          </a:xfrm>
          <a:prstGeom prst="roundRect">
            <a:avLst>
              <a:gd name="adj" fmla="val 9474"/>
            </a:avLst>
          </a:prstGeom>
          <a:ln/>
        </p:spPr>
      </p:pic>
      <p:sp>
        <p:nvSpPr>
          <p:cNvPr id="19" name=""/>
          <p:cNvSpPr/>
          <p:nvPr/>
        </p:nvSpPr>
        <p:spPr>
          <a:xfrm rot="0" flipH="0" flipV="0">
            <a:off x="7581900" y="1600200"/>
            <a:ext cx="1962150" cy="4229100"/>
          </a:xfrm>
          <a:prstGeom prst="rect">
            <a:avLst/>
          </a:prstGeom>
          <a:ln w="12700">
            <a:solidFill>
              <a:srgbClr val="FFFFFF">
                <a:alpha val="1584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2">
            <a:alphaModFix amt="72000"/>
          </a:blip>
          <a:srcRect l="0" t="230" r="0" b="230"/>
          <a:stretch>
            <a:fillRect/>
          </a:stretch>
        </p:blipFill>
        <p:spPr>
          <a:xfrm rot="0" flipH="0" flipV="0">
            <a:off x="7581900" y="1600200"/>
            <a:ext cx="1962150" cy="4229100"/>
          </a:xfrm>
          <a:prstGeom prst="roundRect">
            <a:avLst>
              <a:gd name="adj" fmla="val 9709"/>
            </a:avLst>
          </a:prstGeom>
          <a:ln/>
        </p:spPr>
      </p:pic>
      <p:sp>
        <p:nvSpPr>
          <p:cNvPr id="21" name=""/>
          <p:cNvSpPr/>
          <p:nvPr/>
        </p:nvSpPr>
        <p:spPr>
          <a:xfrm rot="0" flipH="0" flipV="0">
            <a:off x="9201150" y="1257300"/>
            <a:ext cx="2152650" cy="4648200"/>
          </a:xfrm>
          <a:prstGeom prst="rect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3"/>
          <a:srcRect l="0" t="139" r="0" b="139"/>
          <a:stretch>
            <a:fillRect/>
          </a:stretch>
        </p:blipFill>
        <p:spPr>
          <a:xfrm rot="0" flipH="0" flipV="0">
            <a:off x="9201150" y="1257300"/>
            <a:ext cx="2152650" cy="4648200"/>
          </a:xfrm>
          <a:prstGeom prst="roundRect">
            <a:avLst>
              <a:gd name="adj" fmla="val 9735"/>
            </a:avLst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0010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A75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97280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A75"/>
                </a:solidFill>
                <a:latin typeface="Microsoft YaHei"/>
                <a:ea typeface="Microsoft YaHei"/>
              </a:rPr>
              <a:t>01 / 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4" name="" descr="&lt;Slide style={{ width: 1280, height: 720, background: '#FFFFFF', position: 'relative', padding: 0 }} notes={`我按五块来讲。&#10;&#10;先是这套系统由哪几部分组成；然后是它用到的技术，这部分我会讲得具体一点，包括为什么选原生开发、为什么后端不留 REST 接口；接着是三套账号各自能做什么；再花五页看真实界面；最后落到从零部署和日常作业的完整链路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目录&lt;/Text&gt;&#10;        &lt;Box style={{ flex: 1 }} /&gt;&#10;        &lt;Text style={{ fontSize: 14, color: '#94A3B8', letterSpacing: 4 }}&gt;CONTENTS&lt;/Text&gt;&#10;    &lt;/Box&gt;&#10;&#10;    {/* B 区五条章节 */}&#10;    &lt;Box style={{ position: 'absolute', left: 70, top: 120, width: 1140, height: 540, flexDirection: 'column', justifyContent: 'space-between' }}&gt;&#10;&#10;        &lt;Box style={{ flexDirection: 'row', alignItems: 'center', gap: 24, height: 96, paddingLeft: 32, paddingRight: 32, background: '#F4F6FA', borderRadius: 14 }}&gt;&#10;            &lt;Text style={{ fontSize: 30, fontWeight: 'bold', color: '#2F6DF6', width: 58 }}&gt;01&lt;/Text&gt;&#10;            &lt;Box style={{ width: 1, height: 44, background: '#D8DFEA' }} /&gt;&#10;            &lt;Box style={{ flexDirection: 'column' }}&gt;&#10;                &lt;Text style={{ fontSize: 23, fontWeight: 'bold', color: '#101418' }}&gt;项目概览&lt;/Text&gt;&#10;                &lt;Text style={{ fontSize: 15, color: '#64748B', marginTop: 6 }}&gt;三端协同的仓库工具链：手机端、云后端、电脑端打码&lt;/Text&gt;&#10;            &lt;/Box&gt;&#10;        &lt;/Box&gt;&#10;&#10;        &lt;Box style={{ flexDirection: 'row', alignItems: 'center', gap: 24, height: 96, paddingLeft: 32, paddingRight: 32, background: '#F4F6FA', borderRadius: 14 }}&gt;&#10;            &lt;Text style={{ fontSize: 30, fontWeight: 'bold', color: '#2F6DF6', width: 58 }}&gt;02&lt;/Text&gt;&#10;            &lt;Box style={{ width: 1, height: 44, background: '#D8DFEA' }} /&gt;&#10;            &lt;Box style={{ flexDirection: 'column' }}&gt;&#10;                &lt;Text style={{ fontSize: 23, fontWeight: 'bold', color: '#101418' }}&gt;技术栈与架构&lt;/Text&gt;&#10;                &lt;Text style={{ fontSize: 15, color: '#64748B', marginTop: 6 }}&gt;小程序原生框架、PostgreSQL 云数据库、离线工具链的选型理由&lt;/Text&gt;&#10;            &lt;/Box&gt;&#10;        &lt;/Box&gt;&#10;&#10;        &lt;Box style={{ flexDirection: 'row', alignItems: 'center', gap: 24, height: 96, paddingLeft: 32, paddingRight: 32, background: '#F4F6FA', borderRadius: 14 }}&gt;&#10;            &lt;Text style={{ fontSize: 30, fontWeight: 'bold', color: '#2F6DF6', width: 58 }}&gt;03&lt;/Text&gt;&#10;            &lt;Box style={{ width: 1, height: 44, background: '#D8DFEA' }} /&gt;&#10;            &lt;Box style={{ flexDirection: 'column' }}&gt;&#10;                &lt;Text style={{ fontSize: 23, fontWeight: 'bold', color: '#101418' }}&gt;身份与权限&lt;/Text&gt;&#10;                &lt;Text style={{ fontSize: 15, color: '#64748B', marginTop: 6 }}&gt;管理员 / 主管 / 员工 三级后台，各看各的、各管各的&lt;/Text&gt;&#10;            &lt;/Box&gt;&#10;        &lt;/Box&gt;&#10;&#10;        &lt;Box style={{ flexDirection: 'row', alignItems: 'center', gap: 24, height: 96, paddingLeft: 32, paddingRight: 32, background: '#F4F6FA', borderRadius: 14 }}&gt;&#10;            &lt;Text style={{ fontSize: 30, fontWeight: 'bold', color: '#2F6DF6', width: 58 }}&gt;04&lt;/Text&gt;&#10;            &lt;Box style={{ width: 1, height: 44, background: '#D8DFEA' }} /&gt;&#10;            &lt;Box style={{ flexDirection: 'column' }}&gt;&#10;                &lt;Text style={{ fontSize: 23, fontWeight: 'bold', color: '#101418' }}&gt;界面总览&lt;/Text&gt;&#10;                &lt;Text style={{ fontSize: 15, color: '#64748B', marginTop: 6 }}&gt;六大模块 21 个页面的真实界面截图，按功能分类讲解&lt;/Text&gt;&#10;            &lt;/Box&gt;&#10;        &lt;/Box&gt;&#10;&#10;        &lt;Box style={{ flexDirection: 'row', alignItems: 'center', gap: 24, height: 96, paddingLeft: 32, paddingRight: 32, background: '#F4F6FA', borderRadius: 14 }}&gt;&#10;            &lt;Text style={{ fontSize: 30, fontWeight: 'bold', color: '#2F6DF6', width: 58 }}&gt;05&lt;/Text&gt;&#10;            &lt;Box style={{ width: 1, height: 44, background: '#D8DFEA' }} /&gt;&#10;            &lt;Box style={{ flexDirection: 'column' }}&gt;&#10;                &lt;Text style={{ fontSize: 23, fontWeight: 'bold', color: '#101418' }}&gt;落地与部署&lt;/Text&gt;&#10;                &lt;Text style={{ fontSize: 15, color: '#64748B', marginTop: 6 }}&gt;采购到入库的完整作业链路，SQL 脚本与零基础部署手册&lt;/Text&gt;&#10;            &lt;/Box&gt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2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496550" y="428625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66750" y="1143000"/>
            <a:ext cx="10858500" cy="914400"/>
          </a:xfrm>
          <a:prstGeom prst="roundRect">
            <a:avLst>
              <a:gd name="adj" fmla="val 1458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71550" y="1428750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6D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1752600" y="1390650"/>
            <a:ext cx="9525" cy="419100"/>
          </a:xfrm>
          <a:prstGeom prst="rect">
            <a:avLst/>
          </a:prstGeom>
          <a:solidFill>
            <a:srgbClr val="D8DFEA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990725" y="1352550"/>
            <a:ext cx="3429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01418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990725" y="16764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三端协同的仓库工具链：手机端、云后端、电脑端打码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66750" y="2200275"/>
            <a:ext cx="10858500" cy="914400"/>
          </a:xfrm>
          <a:prstGeom prst="roundRect">
            <a:avLst>
              <a:gd name="adj" fmla="val 1458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6D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752600" y="2447925"/>
            <a:ext cx="9525" cy="419100"/>
          </a:xfrm>
          <a:prstGeom prst="rect">
            <a:avLst/>
          </a:prstGeom>
          <a:solidFill>
            <a:srgbClr val="D8DFEA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990725" y="2409825"/>
            <a:ext cx="4124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01418"/>
                </a:solidFill>
                <a:latin typeface="Microsoft YaHei"/>
                <a:ea typeface="Microsoft YaHei"/>
              </a:rPr>
              <a:t>技术栈与架构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990725" y="2733675"/>
            <a:ext cx="412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小程序原生框架、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云数据库、离线工具链的选型理由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66750" y="3257550"/>
            <a:ext cx="10858500" cy="914400"/>
          </a:xfrm>
          <a:prstGeom prst="roundRect">
            <a:avLst>
              <a:gd name="adj" fmla="val 1458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71550" y="3543300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6DF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1752600" y="3505200"/>
            <a:ext cx="9525" cy="419100"/>
          </a:xfrm>
          <a:prstGeom prst="rect">
            <a:avLst/>
          </a:prstGeom>
          <a:solidFill>
            <a:srgbClr val="D8DFE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990725" y="3467100"/>
            <a:ext cx="33432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01418"/>
                </a:solidFill>
                <a:latin typeface="Microsoft YaHei"/>
                <a:ea typeface="Microsoft YaHei"/>
              </a:rPr>
              <a:t>身份与权限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990725" y="3790950"/>
            <a:ext cx="3343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管理员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主管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员工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三级后台，各看各的、各管各的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66750" y="4314825"/>
            <a:ext cx="10858500" cy="914400"/>
          </a:xfrm>
          <a:prstGeom prst="roundRect">
            <a:avLst>
              <a:gd name="adj" fmla="val 1458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71550" y="4600575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6DF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752600" y="4562475"/>
            <a:ext cx="9525" cy="419100"/>
          </a:xfrm>
          <a:prstGeom prst="rect">
            <a:avLst/>
          </a:prstGeom>
          <a:solidFill>
            <a:srgbClr val="D8DFEA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990725" y="4524375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01418"/>
                </a:solidFill>
                <a:latin typeface="Microsoft YaHei"/>
                <a:ea typeface="Microsoft YaHei"/>
              </a:rPr>
              <a:t>界面总览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990725" y="48482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六大模块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个页面的真实界面截图，按功能分类讲解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66750" y="5372100"/>
            <a:ext cx="10858500" cy="914400"/>
          </a:xfrm>
          <a:prstGeom prst="roundRect">
            <a:avLst>
              <a:gd name="adj" fmla="val 14583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71550" y="5657850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6DF6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1752600" y="5619750"/>
            <a:ext cx="9525" cy="419100"/>
          </a:xfrm>
          <a:prstGeom prst="rect">
            <a:avLst/>
          </a:prstGeom>
          <a:solidFill>
            <a:srgbClr val="D8DFE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990725" y="5581650"/>
            <a:ext cx="3609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01418"/>
                </a:solidFill>
                <a:latin typeface="Microsoft YaHei"/>
                <a:ea typeface="Microsoft YaHei"/>
              </a:rPr>
              <a:t>落地与部署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990725" y="5905500"/>
            <a:ext cx="3609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采购到入库的完整作业链路，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脚本与零基础部署手册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6" name="" descr="&lt;Slide style={{ width: 1280, height: 720, background: '#FFFFFF', position: 'relative', padding: 0 }} notes={`整套东西是三件套。&#10;&#10;手机端是微信小程序，一线员工干活用的；后端是一套云数据库加服务端函数，所有数据和逻辑都收在这里；电脑端是一个离线网页工具，专门批量生成二维码标签。&#10;&#10;三者共用同一份数据，但入口和职责完全分开——我特意这么做的，让干活的人只看到干活需要的界面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项目概览&lt;/Text&gt;&#10;        &lt;Box style={{ flex: 1 }} /&gt;&#10;        &lt;Text style={{ fontSize: 14, color: '#94A3B8', letterSpacing: 4 }}&gt;OVERVIEW&lt;/Text&gt;&#10;    &lt;/Box&gt;&#10;&#10;    {/* B 区 */}&#10;    &lt;Box style={{ position: 'absolute', left: 70, top: 120, width: 1140, height: 540, flexDirection: 'column' }}&gt;&#10;&#10;        &lt;Text style={{ fontSize: 20, color: '#334155', lineHeight: 1.6 }}&gt;&#10;            一套解决「工具、耗材借出去就找不回来」的三端协同系统 ——&#10;            &lt;span style={{ fontWeight: 'bold', color: '#2F6DF6' }}&gt;建档、打码、扫码、追溯&lt;/span&gt;全流程闭环。&#10;        &lt;/Text&gt;&#10;&#10;        &lt;Box style={{ flexDirection: 'row', gap: 24, marginTop: 26, height: 452 }}&gt;&#10;&#10;            {/* 手机端 */}&#10;            &lt;Box style={{ flex: 1, background: '#F4F6FA', borderRadius: 16, padding: 30, flexDirection: 'column' }}&gt;&#10;                &lt;Box style={{ width: 62, height: 62, borderRadius: 16, background: 'linear-gradient(135deg, #3D7BFF 0%, #2F6DF6 100%)', justifyContent: 'center', alignItems: 'center' }}&gt;&#10;                    &lt;FAIcon name='mobile' style={{ fill: '#FFFFFF', width: 30, height: 30 }} /&gt;&#10;                &lt;/Box&gt;&#10;                &lt;Text style={{ fontSize: 22, fontWeight: 'bold', color: '#101418', marginTop: 22 }}&gt;手机端 · 小程序&lt;/Text&gt;&#10;                &lt;Text style={{ fontSize: 14, color: '#64748B', marginTop: 6 }}&gt;仓库现场的主要入口&lt;/Text&gt;&#10;                &lt;Box style={{ flexDirection: 'column', gap: 12, marginTop: 22 }}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扫码入库 / 出库，方向一步到位&lt;/Text&gt;&#10;                    &lt;/Box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扫到未建档编号可现场建档&lt;/Text&gt;&#10;                    &lt;/Box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流水查询、库存预警、批量导入&lt;/Text&gt;&#10;                    &lt;/Box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三级身份各进各的后台&lt;/Text&gt;&#10;                    &lt;/Box&gt;&#10;                &lt;/Box&gt;&#10;            &lt;/Box&gt;&#10;&#10;            {/* 云端后端 */}&#10;            &lt;Box style={{ flex: 1, background: '#F4F6FA', borderRadius: 16, padding: 30, flexDirection: 'column' }}&gt;&#10;                &lt;Box style={{ width: 62, height: 62, borderRadius: 16, background: 'linear-gradient(135deg, #14C99A 0%, #0CA678 100%)', justifyContent: 'center', alignItems: 'center' }}&gt;&#10;                    &lt;FAIcon name='database' style={{ fill: '#FFFFFF', width: 30, height: 30 }} /&gt;&#10;                &lt;/Box&gt;&#10;                &lt;Text style={{ fontSize: 22, fontWeight: 'bold', color: '#101418', marginTop: 22 }}&gt;云端后端 · 数据库&lt;/Text&gt;&#10;                &lt;Text style={{ fontSize: 14, color: '#64748B', marginTop: 6 }}&gt;团队共享的同一本账&lt;/Text&gt;&#10;                &lt;Box style={{ flexDirection: 'column', gap: 12, marginTop: 22 }}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4 张业务表：物品 / 人员 / 会话 / 流水&lt;/Text&gt;&#10;                    &lt;/Box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30 余个数据库函数封装全部读写&lt;/Text&gt;&#10;                    &lt;/Box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出入库带行锁，库存永不为负&lt;/Text&gt;&#10;                    &lt;/Box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SQL 脚本可从零重建整套后端&lt;/Text&gt;&#10;                    &lt;/Box&gt;&#10;                &lt;/Box&gt;&#10;            &lt;/Box&gt;&#10;&#10;            {/* 电脑端 */}&#10;            &lt;Box style={{ flex: 1, background: '#F4F6FA', borderRadius: 16, padding: 30, flexDirection: 'column' }}&gt;&#10;                &lt;Box style={{ width: 62, height: 62, borderRadius: 16, background: 'linear-gradient(135deg, #FB923C 0%, #F97316 100%)', justifyContent: 'center', alignItems: 'center' }}&gt;&#10;                    &lt;FAIcon name='print' style={{ fill: '#FFFFFF', width: 30, height: 30 }} /&gt;&#10;                &lt;/Box&gt;&#10;                &lt;Text style={{ fontSize: 22, fontWeight: 'bold', color: '#101418', marginTop: 22 }}&gt;电脑端 · 打码工具&lt;/Text&gt;&#10;                &lt;Text style={{ fontSize: 14, color: '#64748B', marginTop: 6 }}&gt;采购到货后的第一步&lt;/Text&gt;&#10;                &lt;Box style={{ flexDirection: 'column', gap: 12, marginTop: 22 }}&gt;&#10;                    &lt;Box style={{ flexDirection: 'row', alignItems: 'center', gap: 10 }}&gt;&#10;                        &lt;Box style={{ width: 6, height: 6, borderRadius: 3, background: '#F97316' }} /&gt;&#10;                        &lt;Text style={{ fontSize: 15, color: '#334155' }}&gt;粘贴 Excel 清单，按数量逐件展开&lt;/Text&gt;&#10;                    &lt;/Box&gt;&#10;                    &lt;Box style={{ flexDirection: 'row', alignItems: 'center', gap: 10 }}&gt;&#10;                        &lt;Box style={{ width: 6, height: 6, borderRadius: 3, background: '#F97316' }} /&gt;&#10;                        &lt;Text style={{ fontSize: 15, color: '#334155' }}&gt;一件一码，批量生成二维码标签&lt;/Text&gt;&#10;                    &lt;/Box&gt;&#10;                    &lt;Box style={{ flexDirection: 'row', alignItems: 'center', gap: 10 }}&gt;&#10;                        &lt;Box style={{ width: 6, height: 6, borderRadius: 3, background: '#F97316' }} /&gt;&#10;                        &lt;Text style={{ fontSize: 15, color: '#334155' }}&gt;直接打印贴码，导出 CSV 备案&lt;/Text&gt;&#10;                    &lt;/Box&gt;&#10;                    &lt;Box style={{ flexDirection: 'row', alignItems: 'center', gap: 10 }}&gt;&#10;                        &lt;Box style={{ width: 6, height: 6, borderRadius: 3, background: '#F97316' }} /&gt;&#10;                        &lt;Text style={{ fontSize: 15, color: '#334155' }}&gt;纯前端离线运行，不依赖网络&lt;/Text&gt;&#10;                    &lt;/Box&gt;&#10;                &lt;/Box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3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515600" y="428625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OVERVIEW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66750" y="1143000"/>
            <a:ext cx="10858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Microsoft YaHei"/>
                <a:ea typeface="Microsoft YaHei"/>
              </a:rPr>
              <a:t>一套解决「工具、耗材借出去就找不回来」的三端协同系统</a:t>
            </a:r>
            <a:r>
              <a:rPr lang="en-US" sz="1500">
                <a:solidFill>
                  <a:srgbClr val="334155"/>
                </a:solidFill>
                <a:latin typeface="Microsoft YaHei"/>
                <a:ea typeface="Microsoft YaHei"/>
              </a:rPr>
              <a:t xml:space="preserve"> ——</a:t>
            </a:r>
            <a:r>
              <a:rPr lang="zh-CN" sz="1500" b="1">
                <a:solidFill>
                  <a:srgbClr val="2F6DF6"/>
                </a:solidFill>
                <a:latin typeface="Microsoft YaHei"/>
                <a:ea typeface="Microsoft YaHei"/>
              </a:rPr>
              <a:t>建档、打码、扫码、追溯</a:t>
            </a:r>
            <a:r>
              <a:rPr lang="zh-CN" sz="1500">
                <a:solidFill>
                  <a:srgbClr val="334155"/>
                </a:solidFill>
                <a:latin typeface="Microsoft YaHei"/>
                <a:ea typeface="Microsoft YaHei"/>
              </a:rPr>
              <a:t>全流程闭环。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66750" y="1762125"/>
            <a:ext cx="3467100" cy="4305300"/>
          </a:xfrm>
          <a:prstGeom prst="roundRect">
            <a:avLst>
              <a:gd name="adj" fmla="val 4396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952500" y="2047875"/>
            <a:ext cx="590550" cy="590550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3D7BFF"/>
              </a:gs>
              <a:gs pos="100000">
                <a:srgbClr val="2F6DF6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4900" y="2200275"/>
            <a:ext cx="285750" cy="28575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52500" y="28479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手机端</a:t>
            </a:r>
            <a:r>
              <a:rPr lang="en-US" sz="16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52500" y="31623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仓库现场的主要入口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952500" y="3590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04900" y="35337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扫码入库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出库，方向一步到位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952500" y="3876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04900" y="38195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扫到未建档编号可现场建档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952500" y="4162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04900" y="41052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流水查询、库存预警、批量导入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52500" y="44481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04900" y="4391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三级身份各进各的后台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362450" y="1762125"/>
            <a:ext cx="3467100" cy="4305300"/>
          </a:xfrm>
          <a:prstGeom prst="roundRect">
            <a:avLst>
              <a:gd name="adj" fmla="val 4396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648200" y="2047875"/>
            <a:ext cx="590550" cy="590550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4C99A"/>
              </a:gs>
              <a:gs pos="100000">
                <a:srgbClr val="0CA67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00600" y="2200275"/>
            <a:ext cx="285750" cy="2857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648200" y="28479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云端后端</a:t>
            </a:r>
            <a:r>
              <a:rPr lang="en-US" sz="16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数据库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648200" y="31623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团队共享的同一本账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648200" y="3590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800600" y="35337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张业务表：物品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人员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会话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流水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648200" y="3876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800600" y="3819525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余个数据库函数封装全部读写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648200" y="4162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800600" y="41052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出入库带行锁，库存永不为负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648200" y="44481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800600" y="439102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脚本可从零重建整套后端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058150" y="1762125"/>
            <a:ext cx="3467100" cy="4305300"/>
          </a:xfrm>
          <a:prstGeom prst="roundRect">
            <a:avLst>
              <a:gd name="adj" fmla="val 4396"/>
            </a:avLst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8343900" y="2047875"/>
            <a:ext cx="590550" cy="590550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FB923C"/>
              </a:gs>
              <a:gs pos="100000">
                <a:srgbClr val="F97316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96300" y="2200275"/>
            <a:ext cx="285750" cy="28575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43900" y="28479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电脑端</a:t>
            </a:r>
            <a:r>
              <a:rPr lang="en-US" sz="16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01418"/>
                </a:solidFill>
                <a:latin typeface="Microsoft YaHei"/>
                <a:ea typeface="Microsoft YaHei"/>
              </a:rPr>
              <a:t>打码工具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43900" y="31623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采购到货后的第一步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8343900" y="3590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496300" y="353377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粘贴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清单，按数量逐件展开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343900" y="3876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496300" y="38195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一件一码，批量生成二维码标签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343900" y="4162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496300" y="4105275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直接打印贴码，导出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备案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343900" y="44481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496300" y="43910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纯前端离线运行，不依赖网络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3" name="" descr="&lt;Slide style={{ width: 1280, height: 720, background: '#FFFFFF', position: 'relative', padding: 0 }} notes={`技术选型上我刻意做了减法。&#10;&#10;客户端用微信小程序原生开发，没有引 uni-app 或者 Taro 这类框架。不需要跨端，原生就够了，换来的是零构建、启动更快、包更小。整个小程序一张图片都没有，所有图标都是 CSS 画出来的。&#10;&#10;服务端没有自己的服务器，用托管式 PostgreSQL，业务逻辑全部写成数据库函数。电脑端就是一个双击就能打开的 HTML 文件，完全离线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技术栈总览&lt;/Text&gt;&#10;        &lt;Box style={{ flex: 1 }} /&gt;&#10;        &lt;Text style={{ fontSize: 14, color: '#94A3B8', letterSpacing: 4 }}&gt;TECH STACK&lt;/Text&gt;&#10;    &lt;/Box&gt;&#10;&#10;    {/* B 区三条技术带 */}&#10;    &lt;Box style={{ position: 'absolute', left: 70, top: 120, width: 1140, height: 540, flexDirection: 'column', justifyContent: 'space-between' }}&gt;&#10;&#10;        {/* 客户端 */}&#10;        &lt;Box style={{ flexDirection: 'row', alignItems: 'stretch', gap: 0, height: 152 }}&gt;&#10;            &lt;Box style={{ width: 168, background: '#2F6DF6', borderRadius: '14px 0 0 14px', justifyContent: 'center', alignItems: 'center', flexDirection: 'column' }}&gt;&#10;                &lt;FAIcon name='mobile' style={{ fill: '#FFFFFF', width: 28, height: 28 }} /&gt;&#10;                &lt;Text style={{ fontSize: 19, fontWeight: 'bold', color: '#FFFFFF', marginTop: 10 }}&gt;客户端&lt;/Text&gt;&#10;                &lt;Text style={{ fontSize: 12, color: 'rgba(255,255,255,0.75)', marginTop: 4 }}&gt;微信小程序&lt;/Text&gt;&#10;            &lt;/Box&gt;&#10;            &lt;Box style={{ flex: 1, background: '#F4F6FA', borderRadius: '0 14px 14px 0', padding: 24, flexDirection: 'column', justifyContent: 'center', gap: 14 }}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WXML / WXSS 原生框架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自定义 TabBar + 凸起扫码按钮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21 个页面 · 5088 行前端代码&lt;/Text&gt;&#10;                    &lt;/Box&gt;&#10;                &lt;/Box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纯 CSS 图标 · 全站零图片资源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自研二维码编码器 utils/qr.js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不依赖任何第三方 UI 库&lt;/Text&gt;&#10;                    &lt;/Box&gt;&#10;                &lt;/Box&gt;&#10;            &lt;/Box&gt;&#10;        &lt;/Box&gt;&#10;&#10;        {/* 服务端 */}&#10;        &lt;Box style={{ flexDirection: 'row', alignItems: 'stretch', gap: 0, height: 152 }}&gt;&#10;            &lt;Box style={{ width: 168, background: '#0CA678', borderRadius: '14px 0 0 14px', justifyContent: 'center', alignItems: 'center', flexDirection: 'column' }}&gt;&#10;                &lt;FAIcon name='database' style={{ fill: '#FFFFFF', width: 28, height: 28 }} /&gt;&#10;                &lt;Text style={{ fontSize: 19, fontWeight: 'bold', color: '#FFFFFF', marginTop: 10 }}&gt;服务端&lt;/Text&gt;&#10;                &lt;Text style={{ fontSize: 12, color: 'rgba(255,255,255,0.75)', marginTop: 4 }}&gt;CloudBase 云开发&lt;/Text&gt;&#10;            &lt;/Box&gt;&#10;            &lt;Box style={{ flex: 1, background: '#F4F6FA', borderRadius: '0 14px 14px 0', padding: 24, flexDirection: 'column', justifyContent: 'center', gap: 14 }}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PostgreSQL 云数据库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PostgREST 数据网关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30+ 个 SECURITY DEFINER 函数&lt;/Text&gt;&#10;                    &lt;/Box&gt;&#10;                &lt;/Box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4 张业务表 · 零表级授权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SELECT ... FOR UPDATE 行锁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SQL 脚本从零可重建&lt;/Text&gt;&#10;                    &lt;/Box&gt;&#10;                &lt;/Box&gt;&#10;            &lt;/Box&gt;&#10;        &lt;/Box&gt;&#10;&#10;        {/* 工具链 */}&#10;        &lt;Box style={{ flexDirection: 'row', alignItems: 'stretch', gap: 0, height: 152 }}&gt;&#10;            &lt;Box style={{ width: 168, background: '#F97316', borderRadius: '14px 0 0 14px', justifyContent: 'center', alignItems: 'center', flexDirection: 'column' }}&gt;&#10;                &lt;FAIcon name='wrench' style={{ fill: '#FFFFFF', width: 28, height: 28 }} /&gt;&#10;                &lt;Text style={{ fontSize: 19, fontWeight: 'bold', color: '#FFFFFF', marginTop: 10 }}&gt;工具链&lt;/Text&gt;&#10;                &lt;Text style={{ fontSize: 12, color: 'rgba(255,255,255,0.75)', marginTop: 4 }}&gt;开发与交付&lt;/Text&gt;&#10;            &lt;/Box&gt;&#10;            &lt;Box style={{ flex: 1, background: '#F4F6FA', borderRadius: '0 14px 14px 0', padding: 24, flexDirection: 'column', justifyContent: 'center', gap: 14 }}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微信开发者工具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Git / GitHub 公开仓库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3 套 Node 自检脚本&lt;/Text&gt;&#10;                    &lt;/Box&gt;&#10;                &lt;/Box&gt;&#10;                &lt;Box style={{ flexDirection: 'row', gap: 12 }}&gt;&#10;                    &lt;Box style={{ paddingLeft: 16, paddingRight: 16, paddingTop: 8, paddingBottom: 8, background: '#FFFFFF', borderRadius: 8, border: '1px solid #D8DFEA' }}&gt;&#10;                        &lt;Text style={{ fontSize: 15, color: '#101418' }}&gt;纯前端离线打码工具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单文件 HTML 部署手册&lt;/Text&gt;&#10;                    &lt;/Box&gt;&#10;                    &lt;Box style={{ paddingLeft: 16, paddingRight: 16, paddingTop: 8, paddingBottom: 8, background: '#FFFFFF', borderRadius: 8, border: '1px solid #D8DFEA' }}&gt;&#10;                        &lt;Text style={{ fontSize: 15, color: '#101418' }}&gt;可复现的 SQL 引导脚本 ×4&lt;/Text&gt;&#10;                    &lt;/Box&gt;&#10;                &lt;/Box&gt;&#10;            &lt;/Box&gt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4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技术栈总览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334625" y="4286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TECH STACK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66750" y="1143000"/>
            <a:ext cx="1600200" cy="1447800"/>
          </a:xfrm>
          <a:custGeom>
            <a:pathLst>
              <a:path w="168" h="152">
                <a:moveTo>
                  <a:pt x="14" y="0"/>
                </a:moveTo>
                <a:lnTo>
                  <a:pt x="168" y="0"/>
                </a:lnTo>
                <a:lnTo>
                  <a:pt x="168" y="0"/>
                </a:lnTo>
                <a:lnTo>
                  <a:pt x="168" y="152"/>
                </a:lnTo>
                <a:lnTo>
                  <a:pt x="168" y="152"/>
                </a:lnTo>
                <a:lnTo>
                  <a:pt x="14" y="152"/>
                </a:lnTo>
                <a:cubicBezTo>
                  <a:pt x="6" y="152"/>
                  <a:pt x="0" y="146"/>
                  <a:pt x="0" y="13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F6DF6"/>
          </a:solidFill>
          <a:ln/>
        </p:spPr>
        <p:txBody>
          <a:bodyPr/>
          <a:p/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33500" y="1485900"/>
            <a:ext cx="266700" cy="26670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200150" y="18478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81100" y="21050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微信小程序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2266950" y="1143000"/>
            <a:ext cx="9258300" cy="1447800"/>
          </a:xfrm>
          <a:custGeom>
            <a:pathLst>
              <a:path w="972" h="152">
                <a:moveTo>
                  <a:pt x="0" y="0"/>
                </a:moveTo>
                <a:lnTo>
                  <a:pt x="958" y="0"/>
                </a:lnTo>
                <a:cubicBezTo>
                  <a:pt x="966" y="0"/>
                  <a:pt x="972" y="6"/>
                  <a:pt x="972" y="14"/>
                </a:cubicBezTo>
                <a:lnTo>
                  <a:pt x="972" y="138"/>
                </a:lnTo>
                <a:cubicBezTo>
                  <a:pt x="972" y="146"/>
                  <a:pt x="966" y="152"/>
                  <a:pt x="958" y="152"/>
                </a:cubicBezTo>
                <a:lnTo>
                  <a:pt x="0" y="152"/>
                </a:lnTo>
                <a:lnTo>
                  <a:pt x="0" y="15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2495550" y="1476375"/>
            <a:ext cx="19240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647950" y="15525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WXML / WXSS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原生框架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533900" y="1476375"/>
            <a:ext cx="2286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686300" y="155257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自定义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TabBar +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凸起扫码按钮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934200" y="1476375"/>
            <a:ext cx="21621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086600" y="15525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个页面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5088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行前端代码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2495550" y="1933575"/>
            <a:ext cx="22002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2647950" y="200977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纯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CSS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图标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全站零图片资源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4810125" y="1933575"/>
            <a:ext cx="21145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962525" y="200977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自研二维码编码器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utils/qr.js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038975" y="1933575"/>
            <a:ext cx="18288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191375" y="20097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不依赖任何第三方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UI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66750" y="2990850"/>
            <a:ext cx="1600200" cy="1447800"/>
          </a:xfrm>
          <a:custGeom>
            <a:pathLst>
              <a:path w="168" h="152">
                <a:moveTo>
                  <a:pt x="14" y="0"/>
                </a:moveTo>
                <a:lnTo>
                  <a:pt x="168" y="0"/>
                </a:lnTo>
                <a:lnTo>
                  <a:pt x="168" y="0"/>
                </a:lnTo>
                <a:lnTo>
                  <a:pt x="168" y="152"/>
                </a:lnTo>
                <a:lnTo>
                  <a:pt x="168" y="152"/>
                </a:lnTo>
                <a:lnTo>
                  <a:pt x="14" y="152"/>
                </a:lnTo>
                <a:cubicBezTo>
                  <a:pt x="6" y="152"/>
                  <a:pt x="0" y="146"/>
                  <a:pt x="0" y="13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0CA678"/>
          </a:solidFill>
          <a:ln/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333500" y="3333750"/>
            <a:ext cx="266700" cy="266700"/>
          </a:xfrm>
          <a:prstGeom prst="rect">
            <a:avLst/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200150" y="369570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90600" y="39528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CloudBase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云开发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2266950" y="2990850"/>
            <a:ext cx="9258300" cy="1447800"/>
          </a:xfrm>
          <a:custGeom>
            <a:pathLst>
              <a:path w="972" h="152">
                <a:moveTo>
                  <a:pt x="0" y="0"/>
                </a:moveTo>
                <a:lnTo>
                  <a:pt x="958" y="0"/>
                </a:lnTo>
                <a:cubicBezTo>
                  <a:pt x="966" y="0"/>
                  <a:pt x="972" y="6"/>
                  <a:pt x="972" y="14"/>
                </a:cubicBezTo>
                <a:lnTo>
                  <a:pt x="972" y="138"/>
                </a:lnTo>
                <a:cubicBezTo>
                  <a:pt x="972" y="146"/>
                  <a:pt x="966" y="152"/>
                  <a:pt x="958" y="152"/>
                </a:cubicBezTo>
                <a:lnTo>
                  <a:pt x="0" y="152"/>
                </a:lnTo>
                <a:lnTo>
                  <a:pt x="0" y="15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2495550" y="3324225"/>
            <a:ext cx="17145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2647950" y="34004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云数据库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324350" y="3324225"/>
            <a:ext cx="16383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476750" y="34004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PostgREST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数据网关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76950" y="3324225"/>
            <a:ext cx="24384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229350" y="34004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30+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SECURITY DEFINER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2495550" y="3781425"/>
            <a:ext cx="183832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647950" y="3857625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张业务表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零表级授权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448175" y="3781425"/>
            <a:ext cx="2190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600575" y="38576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SELECT ... FOR UPDATE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行锁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753225" y="3781425"/>
            <a:ext cx="16287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905625" y="385762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脚本从零可重建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66750" y="4838700"/>
            <a:ext cx="1600200" cy="1447800"/>
          </a:xfrm>
          <a:custGeom>
            <a:pathLst>
              <a:path w="168" h="152">
                <a:moveTo>
                  <a:pt x="14" y="0"/>
                </a:moveTo>
                <a:lnTo>
                  <a:pt x="168" y="0"/>
                </a:lnTo>
                <a:lnTo>
                  <a:pt x="168" y="0"/>
                </a:lnTo>
                <a:lnTo>
                  <a:pt x="168" y="152"/>
                </a:lnTo>
                <a:lnTo>
                  <a:pt x="168" y="152"/>
                </a:lnTo>
                <a:lnTo>
                  <a:pt x="14" y="152"/>
                </a:lnTo>
                <a:cubicBezTo>
                  <a:pt x="6" y="152"/>
                  <a:pt x="0" y="146"/>
                  <a:pt x="0" y="13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333500" y="5181600"/>
            <a:ext cx="266700" cy="2667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00150" y="55435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工具链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81100" y="5800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开发与交付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2266950" y="4838700"/>
            <a:ext cx="9258300" cy="1447800"/>
          </a:xfrm>
          <a:custGeom>
            <a:pathLst>
              <a:path w="972" h="152">
                <a:moveTo>
                  <a:pt x="0" y="0"/>
                </a:moveTo>
                <a:lnTo>
                  <a:pt x="958" y="0"/>
                </a:lnTo>
                <a:cubicBezTo>
                  <a:pt x="966" y="0"/>
                  <a:pt x="972" y="6"/>
                  <a:pt x="972" y="14"/>
                </a:cubicBezTo>
                <a:lnTo>
                  <a:pt x="972" y="138"/>
                </a:lnTo>
                <a:cubicBezTo>
                  <a:pt x="972" y="146"/>
                  <a:pt x="966" y="152"/>
                  <a:pt x="958" y="152"/>
                </a:cubicBezTo>
                <a:lnTo>
                  <a:pt x="0" y="152"/>
                </a:lnTo>
                <a:lnTo>
                  <a:pt x="0" y="15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2495550" y="5172075"/>
            <a:ext cx="130492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647950" y="52482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微信开发者工具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914775" y="5172075"/>
            <a:ext cx="17526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067175" y="52482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Git / GitHub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公开仓库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81675" y="5172075"/>
            <a:ext cx="160972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934075" y="5248275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套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Node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自检脚本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2495550" y="5629275"/>
            <a:ext cx="15906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2647950" y="57054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纯前端离线打码工具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200525" y="5629275"/>
            <a:ext cx="180022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352925" y="5705475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单文件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HTML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部署手册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115050" y="5629275"/>
            <a:ext cx="20383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267450" y="570547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可复现的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1125">
                <a:solidFill>
                  <a:srgbClr val="101418"/>
                </a:solidFill>
                <a:latin typeface="Microsoft YaHei"/>
                <a:ea typeface="Microsoft YaHei"/>
              </a:rPr>
              <a:t>引导脚本</a:t>
            </a:r>
            <a:r>
              <a:rPr lang="en-US" sz="1125">
                <a:solidFill>
                  <a:srgbClr val="101418"/>
                </a:solidFill>
                <a:latin typeface="Microsoft YaHei"/>
                <a:ea typeface="Microsoft YaHei"/>
              </a:rPr>
              <a:t xml:space="preserve"> ×4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21" name="" descr="&lt;Slide style={{ width: 1280, height: 720, background: '#FFFFFF', position: 'relative', padding: 0 }} notes={`有五件事我特别想讲。&#10;&#10;第一，二维码编码器是自己写的，没用任何第三方库。完整实现了纠错编码和掩码评估，所以断网也能出码，手机端和电脑端生成的结果完全一致。&#10;&#10;第二，库存变更只有一个入口。所有加减都走同一个函数，里面加了行级锁，两个人同时扫同一件物品也不会算错，更不会出现负数。&#10;&#10;第三，权限判断写在数据库里，不是写在界面上。有人绕过小程序直接调接口，一样会被拒。&#10;&#10;第四，登录令牌只放在内存里，不落盘，所以每次冷启动都要重新登录。&#10;&#10;第五，改完代码必须跑三套自检脚本，权限分工、登录策略这些容易被改坏的地方都有断言盯着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关键技术点&lt;/Text&gt;&#10;        &lt;Box style={{ flex: 1 }} /&gt;&#10;        &lt;Text style={{ fontSize: 14, color: '#94A3B8', letterSpacing: 4 }}&gt;HIGHLIGHTS&lt;/Text&gt;&#10;    &lt;/Box&gt;&#10;&#10;    {/* B 区：左巨型数字 + 右五条 */}&#10;    &lt;Box style={{ position: 'absolute', left: 70, top: 120, width: 1140, height: 540, flexDirection: 'row', gap: 40 }}&gt;&#10;&#10;        {/* 左侧锚点 */}&#10;        &lt;Box style={{ width: 300, flexDirection: 'column', justifyContent: 'center' }}&gt;&#10;            &lt;Text style={{ fontSize: 150, fontWeight: 'bold', color: '#2F6DF6', lineHeight: 1 }}&gt;5&lt;/Text&gt;&#10;            &lt;Text style={{ fontSize: 26, fontWeight: 'bold', color: '#101418', marginTop: 10 }}&gt;个关键技术点&lt;/Text&gt;&#10;            &lt;Box style={{ width: 64, height: 5, background: '#F97316', borderRadius: 3, marginTop: 20 }} /&gt;&#10;            &lt;Text style={{ fontSize: 15, color: '#64748B', marginTop: 18, lineHeight: 1.7 }}&gt;&#10;                不追新、不堆库，&lt;br /&gt;每一处都用最稳的做法&lt;br /&gt;把问题堵在源头。&#10;            &lt;/Text&gt;&#10;        &lt;/Box&gt;&#10;&#10;        {/* 右侧清单 */}&#10;        &lt;Box style={{ flex: 1, flexDirection: 'column', justifyContent: 'space-between' }}&gt;&#10;&#10;            &lt;Box style={{ flexDirection: 'row', alignItems: 'flex-start', gap: 18 }}&gt;&#10;                &lt;Box style={{ width: 44, height: 44, borderRadius: 12, background: 'rgba(47,109,246,0.09)', justifyContent: 'center', alignItems: 'center' }}&gt;&#10;                    &lt;Text style={{ fontSize: 19, fontWeight: 'bold', color: '#2F6DF6' }}&gt;01&lt;/Text&gt;&#10;                &lt;/Box&gt;&#10;                &lt;Box style={{ flexDirection: 'column' }}&gt;&#10;                    &lt;Text style={{ fontSize: 20, fontWeight: 'bold', color: '#101418' }}&gt;自研二维码编码器&lt;/Text&gt;&#10;                    &lt;Text style={{ fontSize: 15, color: '#64748B', marginTop: 6, lineHeight: 1.6 }}&gt;&#10;                        utils/qr.js 零依赖实现完整 QR 编码，单码上限 6 版本 / 106 字节，经 jsQR 逆向解码验证&#10;                    &lt;/Text&gt;&#10;                &lt;/Box&gt;&#10;            &lt;/Box&gt;&#10;&#10;            &lt;Box style={{ flexDirection: 'row', alignItems: 'flex-start', gap: 18 }}&gt;&#10;                &lt;Box style={{ width: 44, height: 44, borderRadius: 12, background: 'rgba(47,109,246,0.09)', justifyContent: 'center', alignItems: 'center' }}&gt;&#10;                    &lt;Text style={{ fontSize: 19, fontWeight: 'bold', color: '#2F6DF6' }}&gt;02&lt;/Text&gt;&#10;                &lt;/Box&gt;&#10;                &lt;Box style={{ flexDirection: 'column' }}&gt;&#10;                    &lt;Text style={{ fontSize: 20, fontWeight: 'bold', color: '#101418' }}&gt;纯 CSS 图标体系&lt;/Text&gt;&#10;                    &lt;Text style={{ fontSize: 15, color: '#64748B', marginTop: 6, lineHeight: 1.6 }}&gt;&#10;                        全站不使用任何图片资源，804 个 view 手绘图标，主包更小、加载更快、放大不糊&#10;                    &lt;/Text&gt;&#10;                &lt;/Box&gt;&#10;            &lt;/Box&gt;&#10;&#10;            &lt;Box style={{ flexDirection: 'row', alignItems: 'flex-start', gap: 18 }}&gt;&#10;                &lt;Box style={{ width: 44, height: 44, borderRadius: 12, background: 'rgba(12,166,120,0.10)', justifyContent: 'center', alignItems: 'center' }}&gt;&#10;                    &lt;Text style={{ fontSize: 19, fontWeight: 'bold', color: '#0CA678' }}&gt;03&lt;/Text&gt;&#10;                &lt;/Box&gt;&#10;                &lt;Box style={{ flexDirection: 'column' }}&gt;&#10;                    &lt;Text style={{ fontSize: 20, fontWeight: 'bold', color: '#101418' }}&gt;数据库行锁防超卖&lt;/Text&gt;&#10;                    &lt;Text style={{ fontSize: 15, color: '#64748B', marginTop: 6, lineHeight: 1.6 }}&gt;&#10;                        出入库走 SELECT ... FOR UPDATE 行锁，库存只经 stock_change 单一入口修改，杜绝并发负库存&#10;                    &lt;/Text&gt;&#10;                &lt;/Box&gt;&#10;            &lt;/Box&gt;&#10;&#10;            &lt;Box style={{ flexDirection: 'row', alignItems: 'flex-start', gap: 18 }}&gt;&#10;                &lt;Box style={{ width: 44, height: 44, borderRadius: 12, background: 'rgba(12,166,120,0.10)', justifyContent: 'center', alignItems: 'center' }}&gt;&#10;                    &lt;Text style={{ fontSize: 19, fontWeight: 'bold', color: '#0CA678' }}&gt;04&lt;/Text&gt;&#10;                &lt;/Box&gt;&#10;                &lt;Box style={{ flexDirection: 'column' }}&gt;&#10;                    &lt;Text style={{ fontSize: 20, fontWeight: 'bold', color: '#101418' }}&gt;SECURITY DEFINER 闸门&lt;/Text&gt;&#10;                    &lt;Text style={{ fontSize: 15, color: '#64748B', marginTop: 6, lineHeight: 1.6 }}&gt;&#10;                        业务表零表级授权，读写只能经由带令牌的函数；绕过界面直调接口同样拿不到越权数据&#10;                    &lt;/Text&gt;&#10;                &lt;/Box&gt;&#10;            &lt;/Box&gt;&#10;&#10;            &lt;Box style={{ flexDirection: 'row', alignItems: 'flex-start', gap: 18 }}&gt;&#10;                &lt;Box style={{ width: 44, height: 44, borderRadius: 12, background: 'rgba(249,115,22,0.10)', justifyContent: 'center', alignItems: 'center' }}&gt;&#10;                    &lt;Text style={{ fontSize: 19, fontWeight: 'bold', color: '#F97316' }}&gt;05&lt;/Text&gt;&#10;                &lt;/Box&gt;&#10;                &lt;Box style={{ flexDirection: 'column' }}&gt;&#10;                    &lt;Text style={{ fontSize: 20, fontWeight: 'bold', color: '#101418' }}&gt;内存态会话&lt;/Text&gt;&#10;                    &lt;Text style={{ fontSize: 15, color: '#64748B', marginTop: 6, lineHeight: 1.6 }}&gt;&#10;                        登录令牌不写本地存储，每次打开小程序都重新登录，符合内部仓库的安全要求&#10;                    &lt;/Text&gt;&#10;                &lt;/Box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5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关键技术点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334625" y="4286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HIGHLIGHTS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66750" y="2019300"/>
            <a:ext cx="2857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2F6DF6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66750" y="3829050"/>
            <a:ext cx="2857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01418"/>
                </a:solidFill>
                <a:latin typeface="Microsoft YaHei"/>
                <a:ea typeface="Microsoft YaHei"/>
              </a:rPr>
              <a:t>个关键技术点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66750" y="432435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66750" y="4543425"/>
            <a:ext cx="28575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不追新、不堆库，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每一处都用最稳的做法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把问题堵在源头。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905250" y="11430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F6DF6">
              <a:alpha val="9000"/>
            </a:srgbClr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000500" y="1247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F6D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495800" y="1143000"/>
            <a:ext cx="567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自研二维码编码器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495800" y="1428750"/>
            <a:ext cx="5676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utils/qr.js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零依赖实现完整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QR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编码，单码上限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版本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106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字节，经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jsQR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逆向解码验证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3905250" y="22860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F6DF6">
              <a:alpha val="9000"/>
            </a:srgbClr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000500" y="2390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F6D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495800" y="2286000"/>
            <a:ext cx="525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纯</a:t>
            </a:r>
            <a:r>
              <a:rPr lang="en-US" sz="150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CSS </a:t>
            </a: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图标体系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95800" y="2571750"/>
            <a:ext cx="5257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全站不使用任何图片资源，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804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view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手绘图标，主包更小、加载更快、放大不糊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905250" y="3438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0CA678">
              <a:alpha val="10000"/>
            </a:srgbClr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000500" y="354330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CA67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95800" y="3438525"/>
            <a:ext cx="621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数据库行锁防超卖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495800" y="3724275"/>
            <a:ext cx="62198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出入库走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SELECT ... FOR UPDATE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行锁，库存只经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stock_change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单一入口修改，杜绝并发负库存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3905250" y="4581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0CA678">
              <a:alpha val="10000"/>
            </a:srgbClr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000500" y="468630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CA67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495800" y="4581525"/>
            <a:ext cx="557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SECURITY DEFINER </a:t>
            </a: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闸门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495800" y="4867275"/>
            <a:ext cx="5572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业务表零表级授权，读写只能经由带令牌的函数；绕过界面直调接口同样拿不到越权数据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905250" y="5724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000500" y="582930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495800" y="5724525"/>
            <a:ext cx="5000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1418"/>
                </a:solidFill>
                <a:latin typeface="Microsoft YaHei"/>
                <a:ea typeface="Microsoft YaHei"/>
              </a:rPr>
              <a:t>内存态会话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495800" y="6010275"/>
            <a:ext cx="50006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登录令牌不写本地存储，每次打开小程序都重新登录，符合内部仓库的安全要求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2" name="" descr="&lt;Slide style={{ width: 1280, height: 720, background: '#FFFFFF', position: 'relative', padding: 0 }} notes={`数据是单向收口的。&#10;&#10;小程序和电脑端工具都只是入口，真正的写操作全部要带着登录令牌穿过网关，落到数据库函数里，再由函数决定这一行数据能不能改。&#10;&#10;表面上看只有物品表对客户端开放了读取，流水、人员、会话这三张表完全没有开放权限，客户端一行都直接拿不到，只能通过函数拿。这样即使客户端被反编译，也找不到能越权写入的口子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系统架构&lt;/Text&gt;&#10;        &lt;Box style={{ flex: 1 }} /&gt;&#10;        &lt;Text style={{ fontSize: 14, color: '#94A3B8', letterSpacing: 4 }}&gt;ARCHITECTURE&lt;/Text&gt;&#10;    &lt;/Box&gt;&#10;&#10;    {/* B 区说明句 */}&#10;    &lt;Box style={{ position: 'absolute', left: 70, top: 130, width: 1140 }}&gt;&#10;        &lt;Text style={{ fontSize: 17, color: '#334155' }}&gt;&#10;            三端共用同一套云端数据，所有写操作都要带着&lt;span style={{ fontWeight: 'bold', color: '#2F6DF6' }}&gt;登录令牌&lt;/span&gt;穿过网关。&#10;        &lt;/Text&gt;&#10;    &lt;/Box&gt;&#10;&#10;    {/* 架构图 */}&#10;    &lt;Box style={{ position: 'absolute', left: 70, top: 172, width: 1140, height: 470 }}&gt;&#10;        &lt;svg width={1140} height={470} viewBox='0 0 1140 470'&gt;&#10;            &lt;defs&gt;&#10;                &lt;marker id='arw' markerWidth='9' markerHeight='9' refX='7' refY='4.5' orient='auto'&gt;&#10;                    &lt;path d='M0,0 L9,4.5 L0,9 Z' fill='#94A3B8' /&gt;&#10;                &lt;/marker&gt;&#10;            &lt;/defs&gt;&#10;&#10;            {/* 顶部：两个入口 */}&#10;            &lt;rect x='30' y='10' width='520' height='104' rx='14' fill='#F4F6FA' stroke='#D8DFEA' strokeWidth='1.5' /&gt;&#10;            &lt;text x='290' y='56' textAnchor='middle' fontSize='22' fontWeight='bold' fill='#101418'&gt;手机端 · 微信小程序&lt;/text&gt;&#10;            &lt;text x='290' y='88' textAnchor='middle' fontSize='14' fill='#64748B'&gt;员工 / 主管 / 管理员现场扫码与档案管理&lt;/text&gt;&#10;&#10;            &lt;rect x='590' y='10' width='520' height='104' rx='14' fill='#F4F6FA' stroke='#D8DFEA' strokeWidth='1.5' /&gt;&#10;            &lt;text x='850' y='56' textAnchor='middle' fontSize='22' fontWeight='bold' fill='#101418'&gt;电脑端 · 打码工具&lt;/text&gt;&#10;            &lt;text x='850' y='88' textAnchor='middle' fontSize='14' fill='#64748B'&gt;粘贴清单，批量生成并打印二维码标签&lt;/text&gt;&#10;&#10;            {/* 箭头向下 */}&#10;            &lt;line x1='290' y1='114' x2='290' y2='176' stroke='#94A3B8' strokeWidth='2' markerEnd='url(#arw)' /&gt;&#10;            &lt;line x1='850' y1='114' x2='850' y2='176' stroke='#94A3B8' strokeWidth='2' markerEnd='url(#arw)' /&gt;&#10;&#10;            {/* 中间：接入层 */}&#10;            &lt;rect x='30' y='180' width='1080' height='104' rx='14' fill='#2F6DF6' /&gt;&#10;            &lt;text x='570' y='226' textAnchor='middle' fontSize='22' fontWeight='bold' fill='#FFFFFF'&gt;接入层 · CloudBase 网关 + PostgREST&lt;/text&gt;&#10;            &lt;text x='570' y='258' textAnchor='middle' fontSize='14' fill='rgba(255,255,255,0.82)'&gt;staff_require 令牌校验 · 角色下限判定 · 业务错误码统一翻译&lt;/text&gt;&#10;&#10;            {/* 箭头向下 */}&#10;            &lt;line x1='290' y1='284' x2='290' y2='346' stroke='#94A3B8' strokeWidth='2' markerEnd='url(#arw)' /&gt;&#10;            &lt;line x1='850' y1='284' x2='850' y2='346' stroke='#94A3B8' strokeWidth='2' markerEnd='url(#arw)' /&gt;&#10;&#10;            {/* 底部：函数层与数据层 */}&#10;            &lt;rect x='30' y='350' width='520' height='110' rx='14' fill='rgba(12,166,120,0.08)' stroke='#0CA678' strokeWidth='1.5' /&gt;&#10;            &lt;text x='290' y='396' textAnchor='middle' fontSize='22' fontWeight='bold' fill='#0CA678'&gt;数据库函数层 · 30+ 个&lt;/text&gt;&#10;            &lt;text x='290' y='428' textAnchor='middle' fontSize='14' fill='#64748B'&gt;SECURITY DEFINER · 行锁 · 审批 · 统计 · 导出&lt;/text&gt;&#10;&#10;            &lt;rect x='590' y='350' width='520' height='110' rx='14' fill='#101418' /&gt;&#10;            &lt;text x='850' y='396' textAnchor='middle' fontSize='22' fontWeight='bold' fill='#FFFFFF'&gt;PostgreSQL · 4 张业务表&lt;/text&gt;&#10;            &lt;text x='850' y='428' textAnchor='middle' fontSize='14' fill='rgba(255,255,255,0.72)'&gt;items · staff · staff_sessions · stock_records&lt;/text&gt;&#10;        &lt;/svg&gt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6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077450" y="4286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66750" y="123825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三端共用同一套云端数据，所有写操作都要带着</a:t>
            </a:r>
            <a:r>
              <a:rPr lang="zh-CN" sz="1275" b="1">
                <a:solidFill>
                  <a:srgbClr val="2F6DF6"/>
                </a:solidFill>
                <a:latin typeface="Microsoft YaHei"/>
                <a:ea typeface="Microsoft YaHei"/>
              </a:rPr>
              <a:t>登录令牌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穿过网关。</a:t>
            </a:r>
            <a:endParaRPr/>
          </a:p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638300"/>
            <a:ext cx="10858500" cy="447675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61" name="" descr="&lt;Slide style={{ width: 1280, height: 720, background: '#FFFFFF', position: 'relative', padding: 0 }} notes={`三套账号的分工是刻意的，跟很多系统正好反过来。&#10;&#10;管理员能建物品、能改人员，但我不给他出入库的权限。管账的和动库存的最好不是同一个人，流水才可信；管理员真正要做的是审批账号、看全局数据。&#10;&#10;主管可以带人干活，也能扫码，但只能管自己招进来的员工，而且只能改启用和停用，碰不了审批——否则自己提交、自己通过，审批就形同虚设。&#10;&#10;员工权限最窄，只扫码，改不了档案也停用不了物品。但留了一个例外：扫到没建过档的新编号，可以现场建档入库，采购到货那天不用等管理员坐在电脑前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三种身份与权限&lt;/Text&gt;&#10;        &lt;Box style={{ flex: 1 }} /&gt;&#10;        &lt;Text style={{ fontSize: 14, color: '#94A3B8', letterSpacing: 4 }}&gt;ROLES&lt;/Text&gt;&#10;    &lt;/Box&gt;&#10;&#10;    {/* B 区 */}&#10;    &lt;Box style={{ position: 'absolute', left: 70, top: 126, width: 1140, height: 534, flexDirection: 'column' }}&gt;&#10;&#10;        &lt;Text style={{ fontSize: 18, color: '#334155', lineHeight: 1.6 }}&gt;&#10;            账号密码登录，按角色进入不同的后台；服务端对每个接口再做一次&#10;            &lt;span style={{ fontWeight: 'bold', color: '#2F6DF6' }}&gt;角色下限校验&lt;/span&gt;，绕过界面也拿不到越权数据。&#10;        &lt;/Text&gt;&#10;&#10;        {/* 权限矩阵 */}&#10;        &lt;Box style={{ flexDirection: 'column', marginTop: 22, borderRadius: 12, border: '1px solid #E2E8F0', overflow: 'hidden' }}&gt;&#10;&#10;            {/* 表头 */}&#10;            &lt;Box style={{ flexDirection: 'row', height: 54 }}&gt;&#10;                &lt;Box style={{ width: 400, justifyContent: 'center', paddingLeft: 24, background: '#101418' }}&gt;&#10;                    &lt;Text style={{ fontSize: 16, fontWeight: 'bold', color: '#FFFFFF' }}&gt;能力项&lt;/Text&gt;&#10;                &lt;/Box&gt;&#10;                &lt;Box style={{ width: 246, justifyContent: 'center', alignItems: 'center', background: '#2F6DF6' }}&gt;&#10;                    &lt;Text style={{ fontSize: 17, fontWeight: 'bold', color: '#FFFFFF' }}&gt;管理员&lt;/Text&gt;&#10;                &lt;/Box&gt;&#10;                &lt;Box style={{ width: 246, justifyContent: 'center', alignItems: 'center', background: '#0CA678' }}&gt;&#10;                    &lt;Text style={{ fontSize: 17, fontWeight: 'bold', color: '#FFFFFF' }}&gt;主管&lt;/Text&gt;&#10;                &lt;/Box&gt;&#10;                &lt;Box style={{ width: 248, justifyContent: 'center', alignItems: 'center', background: '#64748B' }}&gt;&#10;                    &lt;Text style={{ fontSize: 17, fontWeight: 'bold', color: '#FFFFFF' }}&gt;员工&lt;/Text&gt;&#10;                &lt;/Box&gt;&#10;            &lt;/Box&gt;&#10;&#10;            {/* 行 1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扫码出入库&lt;/Text&gt;&#10;                &lt;/Box&gt;&#10;                &lt;Box style={{ width: 246, justifyContent: 'center', alignItems: 'center', background: '#FFFFFF' }}&gt;&#10;                    &lt;Text style={{ fontSize: 15, color: '#94A3B8' }}&gt;—（专职管人）&lt;/Text&gt;&#10;                &lt;/Box&gt;&#10;                &lt;Box style={{ width: 246, justifyContent: 'center', alignItems: 'center', background: '#FFFFFF' }}&gt;&#10;                    &lt;Text style={{ fontSize: 15, fontWeight: 'bold', color: '#0CA678' }}&gt;✓&lt;/Text&gt;&#10;                &lt;/Box&gt;&#10;                &lt;Box style={{ width: 248, justifyContent: 'center', alignItems: 'center', background: '#FFFFFF' }}&gt;&#10;                    &lt;Text style={{ fontSize: 15, fontWeight: 'bold', color: '#0CA678' }}&gt;✓&lt;/Text&gt;&#10;                &lt;/Box&gt;&#10;            &lt;/Box&gt;&#10;&#10;            {/* 行 2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扫码即建档&lt;/Text&gt;&#10;                &lt;/Box&gt;&#10;                &lt;Box style={{ width: 246, justifyContent: 'center', alignItems: 'center', background: '#FFFFFF' }}&gt;&#10;                    &lt;Text style={{ fontSize: 15, color: '#94A3B8' }}&gt;—&lt;/Text&gt;&#10;                &lt;/Box&gt;&#10;                &lt;Box style={{ width: 246, justifyContent: 'center', alignItems: 'center', background: '#FFFFFF' }}&gt;&#10;                    &lt;Text style={{ fontSize: 15, fontWeight: 'bold', color: '#0CA678' }}&gt;✓&lt;/Text&gt;&#10;                &lt;/Box&gt;&#10;                &lt;Box style={{ width: 248, justifyContent: 'center', alignItems: 'center', background: '#FFFFFF' }}&gt;&#10;                    &lt;Text style={{ fontSize: 15, fontWeight: 'bold', color: '#0CA678' }}&gt;✓&lt;/Text&gt;&#10;                &lt;/Box&gt;&#10;            &lt;/Box&gt;&#10;&#10;            {/* 行 3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建档 / 改档 / 停用 / 批量导入&lt;/Text&gt;&#10;                &lt;/Box&gt;&#10;                &lt;Box style={{ width: 246, justifyContent: 'center', alignItems: 'center', background: '#FFFFFF' }}&gt;&#10;                    &lt;Text style={{ fontSize: 15, fontWeight: 'bold', color: '#2F6DF6' }}&gt;✓&lt;/Text&gt;&#10;                &lt;/Box&gt;&#10;                &lt;Box style={{ width: 246, justifyContent: 'center', alignItems: 'center', background: '#FFFFFF' }}&gt;&#10;                    &lt;Text style={{ fontSize: 15, fontWeight: 'bold', color: '#0CA678' }}&gt;✓&lt;/Text&gt;&#10;                &lt;/Box&gt;&#10;                &lt;Box style={{ width: 248, justifyContent: 'center', alignItems: 'center', background: '#FFFFFF' }}&gt;&#10;                    &lt;Text style={{ fontSize: 15, color: '#94A3B8' }}&gt;—&lt;/Text&gt;&#10;                &lt;/Box&gt;&#10;            &lt;/Box&gt;&#10;&#10;            {/* 行 4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添加账号&lt;/Text&gt;&#10;                &lt;/Box&gt;&#10;                &lt;Box style={{ width: 246, justifyContent: 'center', alignItems: 'center', background: '#FFFFFF' }}&gt;&#10;                    &lt;Text style={{ fontSize: 15, fontWeight: 'bold', color: '#2F6DF6' }}&gt;直接生效&lt;/Text&gt;&#10;                &lt;/Box&gt;&#10;                &lt;Box style={{ width: 246, justifyContent: 'center', alignItems: 'center', background: '#FFFFFF' }}&gt;&#10;                    &lt;Text style={{ fontSize: 15, color: '#334155' }}&gt;提交后待审批&lt;/Text&gt;&#10;                &lt;/Box&gt;&#10;                &lt;Box style={{ width: 248, justifyContent: 'center', alignItems: 'center', background: '#FFFFFF' }}&gt;&#10;                    &lt;Text style={{ fontSize: 15, color: '#94A3B8' }}&gt;—&lt;/Text&gt;&#10;                &lt;/Box&gt;&#10;            &lt;/Box&gt;&#10;&#10;            {/* 行 5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审批账号&lt;/Text&gt;&#10;                &lt;/Box&gt;&#10;                &lt;Box style={{ width: 246, justifyContent: 'center', alignItems: 'center', background: '#FFFFFF' }}&gt;&#10;                    &lt;Text style={{ fontSize: 15, fontWeight: 'bold', color: '#2F6DF6' }}&gt;✓（唯一入口）&lt;/Text&gt;&#10;                &lt;/Box&gt;&#10;                &lt;Box style={{ width: 246, justifyContent: 'center', alignItems: 'center', background: '#FFFFFF' }}&gt;&#10;                    &lt;Text style={{ fontSize: 15, color: '#94A3B8' }}&gt;—&lt;/Text&gt;&#10;                &lt;/Box&gt;&#10;                &lt;Box style={{ width: 248, justifyContent: 'center', alignItems: 'center', background: '#FFFFFF' }}&gt;&#10;                    &lt;Text style={{ fontSize: 15, color: '#94A3B8' }}&gt;—&lt;/Text&gt;&#10;                &lt;/Box&gt;&#10;            &lt;/Box&gt;&#10;&#10;            {/* 行 6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管理员工&lt;/Text&gt;&#10;                &lt;/Box&gt;&#10;                &lt;Box style={{ width: 246, justifyContent: 'center', alignItems: 'center', background: '#FFFFFF' }}&gt;&#10;                    &lt;Text style={{ fontSize: 15, fontWeight: 'bold', color: '#2F6DF6' }}&gt;全部人员&lt;/Text&gt;&#10;                &lt;/Box&gt;&#10;                &lt;Box style={{ width: 246, justifyContent: 'center', alignItems: 'center', background: '#FFFFFF' }}&gt;&#10;                    &lt;Text style={{ fontSize: 15, color: '#334155' }}&gt;仅自己提交的&lt;/Text&gt;&#10;                &lt;/Box&gt;&#10;                &lt;Box style={{ width: 248, justifyContent: 'center', alignItems: 'center', background: '#FFFFFF' }}&gt;&#10;                    &lt;Text style={{ fontSize: 15, color: '#94A3B8' }}&gt;—&lt;/Text&gt;&#10;                &lt;/Box&gt;&#10;            &lt;/Box&gt;&#10;&#10;            {/* 行 7 */}&#10;            &lt;Box style={{ flexDirection: 'row', height: 48, borderTop: '1px solid #E2E8F0' }}&gt;&#10;                &lt;Box style={{ width: 400, justifyContent: 'center', paddingLeft: 24, background: '#F4F6FA' }}&gt;&#10;                    &lt;Text style={{ fontSize: 15, fontWeight: 'bold', color: '#101418' }}&gt;导出流水&lt;/Text&gt;&#10;                &lt;/Box&gt;&#10;                &lt;Box style={{ width: 246, justifyContent: 'center', alignItems: 'center', background: '#FFFFFF' }}&gt;&#10;                    &lt;Text style={{ fontSize: 15, fontWeight: 'bold', color: '#2F6DF6' }}&gt;✓&lt;/Text&gt;&#10;                &lt;/Box&gt;&#10;                &lt;Box style={{ width: 246, justifyContent: 'center', alignItems: 'center', background: '#FFFFFF' }}&gt;&#10;                    &lt;Text style={{ fontSize: 15, fontWeight: 'bold', color: '#0CA678' }}&gt;✓&lt;/Text&gt;&#10;                &lt;/Box&gt;&#10;                &lt;Box style={{ width: 248, justifyContent: 'center', alignItems: 'center', background: '#FFFFFF' }}&gt;&#10;                    &lt;Text style={{ fontSize: 15, color: '#94A3B8' }}&gt;—&lt;/Text&gt;&#10;                &lt;/Box&gt;&#10;            &lt;/Box&gt;&#10;&#10;        &lt;/Box&gt;&#10;&#10;        {/* 角色定位 */}&#10;        &lt;Box style={{ flexDirection: 'row', gap: 14, marginTop: 20 }}&gt;&#10;            &lt;Box style={{ paddingLeft: 16, paddingRight: 16, paddingTop: 9, paddingBottom: 9, borderRadius: 10, background: 'rgba(47,109,246,0.08)' }}&gt;&#10;                &lt;Text style={{ fontSize: 14, color: '#2F6DF6' }}&gt;管理员 = 制度与全局&lt;/Text&gt;&#10;            &lt;/Box&gt;&#10;            &lt;Box style={{ paddingLeft: 16, paddingRight: 16, paddingTop: 9, paddingBottom: 9, borderRadius: 10, background: 'rgba(12,166,120,0.08)' }}&gt;&#10;                &lt;Text style={{ fontSize: 14, color: '#0CA678' }}&gt;主管 = 带队与出入库&lt;/Text&gt;&#10;            &lt;/Box&gt;&#10;            &lt;Box style={{ paddingLeft: 16, paddingRight: 16, paddingTop: 9, paddingBottom: 9, borderRadius: 10, background: 'rgba(100,116,139,0.10)' }}&gt;&#10;                &lt;Text style={{ fontSize: 14, color: '#475569' }}&gt;员工 = 只管扫码与查询&lt;/Text&gt;&#10;            &lt;/Box&gt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7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三种身份与权限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915650" y="42862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ROLES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66750" y="1200150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账号密码登录，按角色进入不同的后台；服务端对每个接口再做一次</a:t>
            </a:r>
            <a:r>
              <a:rPr lang="zh-CN" sz="1350" b="1">
                <a:solidFill>
                  <a:srgbClr val="2F6DF6"/>
                </a:solidFill>
                <a:latin typeface="Microsoft YaHei"/>
                <a:ea typeface="Microsoft YaHei"/>
              </a:rPr>
              <a:t>角色下限校验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，绕过界面也拿不到越权数据。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666750" y="1743075"/>
            <a:ext cx="10858500" cy="3714750"/>
          </a:xfrm>
          <a:prstGeom prst="roundRect">
            <a:avLst>
              <a:gd name="adj" fmla="val 3077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66750" y="1743075"/>
            <a:ext cx="3810000" cy="514350"/>
          </a:xfrm>
          <a:custGeom>
            <a:pathLst>
              <a:path w="400" h="54">
                <a:moveTo>
                  <a:pt x="400" y="54"/>
                </a:moveTo>
                <a:lnTo>
                  <a:pt x="0" y="54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400" y="0"/>
                </a:lnTo>
                <a:close/>
              </a:path>
            </a:pathLst>
          </a:custGeom>
          <a:solidFill>
            <a:srgbClr val="101418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能力项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476750" y="1743075"/>
            <a:ext cx="2343150" cy="514350"/>
          </a:xfrm>
          <a:prstGeom prst="rect">
            <a:avLst/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410200" y="19050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管理员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819900" y="1743075"/>
            <a:ext cx="2343150" cy="514350"/>
          </a:xfrm>
          <a:prstGeom prst="rect">
            <a:avLst/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829550" y="1905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主管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9163050" y="1743075"/>
            <a:ext cx="2362200" cy="514350"/>
          </a:xfrm>
          <a:custGeom>
            <a:pathLst>
              <a:path w="248" h="54">
                <a:moveTo>
                  <a:pt x="236" y="0"/>
                </a:moveTo>
                <a:cubicBezTo>
                  <a:pt x="243" y="0"/>
                  <a:pt x="248" y="5"/>
                  <a:pt x="248" y="12"/>
                </a:cubicBezTo>
                <a:lnTo>
                  <a:pt x="248" y="54"/>
                </a:lnTo>
                <a:lnTo>
                  <a:pt x="0" y="54"/>
                </a:lnTo>
                <a:lnTo>
                  <a:pt x="0" y="0"/>
                </a:lnTo>
                <a:lnTo>
                  <a:pt x="236" y="0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182225" y="1905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员工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66750" y="22574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666750" y="22669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95350" y="24098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扫码出入库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476750" y="22669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143500" y="2409825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—（专职管人）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819900" y="22669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924800" y="24098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9163050" y="22669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277475" y="24098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66750" y="27146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66750" y="27241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95350" y="28670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扫码即建档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4476750" y="27241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572125" y="28670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19900" y="27241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924800" y="28670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9163050" y="27241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0277475" y="28670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66750" y="31718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66750" y="31813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95350" y="33242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建档</a:t>
            </a:r>
            <a:r>
              <a:rPr lang="en-US" sz="1125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改档</a:t>
            </a:r>
            <a:r>
              <a:rPr lang="en-US" sz="1125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停用</a:t>
            </a:r>
            <a:r>
              <a:rPr lang="en-US" sz="1125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批量导入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476750" y="31813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581650" y="33242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F6DF6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819900" y="31813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924800" y="33242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9163050" y="31813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0267950" y="33242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66750" y="36290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666750" y="36385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95350" y="37814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添加账号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476750" y="36385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362575" y="37814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6DF6"/>
                </a:solidFill>
                <a:latin typeface="Microsoft YaHei"/>
                <a:ea typeface="Microsoft YaHei"/>
              </a:rPr>
              <a:t>直接生效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819900" y="36385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562850" y="3781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提交后待审批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9163050" y="36385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267950" y="37814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66750" y="40862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666750" y="40957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95350" y="42386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审批账号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4476750" y="40957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153025" y="4238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6DF6"/>
                </a:solidFill>
                <a:latin typeface="Microsoft YaHei"/>
                <a:ea typeface="Microsoft YaHei"/>
              </a:rPr>
              <a:t>✓（唯一入口）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819900" y="40957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915275" y="42386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9163050" y="40957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267950" y="42386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66750" y="45434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666750" y="4552950"/>
            <a:ext cx="3810000" cy="4476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95350" y="46958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管理员工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4476750" y="45529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362575" y="4695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6DF6"/>
                </a:solidFill>
                <a:latin typeface="Microsoft YaHei"/>
                <a:ea typeface="Microsoft YaHei"/>
              </a:rPr>
              <a:t>全部人员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819900" y="45529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562850" y="4695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仅自己提交的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9163050" y="4552950"/>
            <a:ext cx="236220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267950" y="46958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66750" y="5000625"/>
            <a:ext cx="10858500" cy="457200"/>
          </a:xfrm>
          <a:custGeom>
            <a:pathLst>
              <a:path w="1140" h="4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666750" y="5010150"/>
            <a:ext cx="3810000" cy="447675"/>
          </a:xfrm>
          <a:custGeom>
            <a:pathLst>
              <a:path w="400" h="47">
                <a:moveTo>
                  <a:pt x="400" y="47"/>
                </a:moveTo>
                <a:lnTo>
                  <a:pt x="12" y="47"/>
                </a:lnTo>
                <a:cubicBezTo>
                  <a:pt x="5" y="47"/>
                  <a:pt x="0" y="42"/>
                  <a:pt x="0" y="35"/>
                </a:cubicBezTo>
                <a:lnTo>
                  <a:pt x="0" y="0"/>
                </a:lnTo>
                <a:lnTo>
                  <a:pt x="400" y="0"/>
                </a:lnTo>
                <a:close/>
              </a:path>
            </a:pathLst>
          </a:custGeom>
          <a:solidFill>
            <a:srgbClr val="F4F6FA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95350" y="51530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导出流水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476750" y="50101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581650" y="51530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F6DF6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819900" y="5010150"/>
            <a:ext cx="2343150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924800" y="51530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0CA67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9163050" y="5010150"/>
            <a:ext cx="2362200" cy="447675"/>
          </a:xfrm>
          <a:custGeom>
            <a:pathLst>
              <a:path w="248" h="47">
                <a:moveTo>
                  <a:pt x="248" y="35"/>
                </a:moveTo>
                <a:cubicBezTo>
                  <a:pt x="248" y="42"/>
                  <a:pt x="243" y="47"/>
                  <a:pt x="236" y="47"/>
                </a:cubicBezTo>
                <a:lnTo>
                  <a:pt x="0" y="47"/>
                </a:lnTo>
                <a:lnTo>
                  <a:pt x="0" y="0"/>
                </a:lnTo>
                <a:lnTo>
                  <a:pt x="248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267950" y="5153025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4A3B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66750" y="5648325"/>
            <a:ext cx="1552575" cy="333375"/>
          </a:xfrm>
          <a:prstGeom prst="roundRect">
            <a:avLst>
              <a:gd name="adj" fmla="val 28571"/>
            </a:avLst>
          </a:prstGeom>
          <a:solidFill>
            <a:srgbClr val="2F6DF6">
              <a:alpha val="8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19150" y="573405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F6DF6"/>
                </a:solidFill>
                <a:latin typeface="Microsoft YaHei"/>
                <a:ea typeface="Microsoft YaHei"/>
              </a:rPr>
              <a:t>管理员</a:t>
            </a:r>
            <a:r>
              <a:rPr lang="en-US" sz="1050">
                <a:solidFill>
                  <a:srgbClr val="2F6DF6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2F6DF6"/>
                </a:solidFill>
                <a:latin typeface="Microsoft YaHei"/>
                <a:ea typeface="Microsoft YaHei"/>
              </a:rPr>
              <a:t>制度与全局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2352675" y="5648325"/>
            <a:ext cx="1552575" cy="333375"/>
          </a:xfrm>
          <a:prstGeom prst="roundRect">
            <a:avLst>
              <a:gd name="adj" fmla="val 28571"/>
            </a:avLst>
          </a:prstGeom>
          <a:solidFill>
            <a:srgbClr val="0CA678">
              <a:alpha val="8000"/>
            </a:srgbClr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2505075" y="573405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CA678"/>
                </a:solidFill>
                <a:latin typeface="Microsoft YaHei"/>
                <a:ea typeface="Microsoft YaHei"/>
              </a:rPr>
              <a:t>主管</a:t>
            </a:r>
            <a:r>
              <a:rPr lang="en-US" sz="1050">
                <a:solidFill>
                  <a:srgbClr val="0CA67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0CA678"/>
                </a:solidFill>
                <a:latin typeface="Microsoft YaHei"/>
                <a:ea typeface="Microsoft YaHei"/>
              </a:rPr>
              <a:t>带队与出入库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4038600" y="5648325"/>
            <a:ext cx="1685925" cy="333375"/>
          </a:xfrm>
          <a:prstGeom prst="roundRect">
            <a:avLst>
              <a:gd name="adj" fmla="val 28571"/>
            </a:avLst>
          </a:prstGeom>
          <a:solidFill>
            <a:srgbClr val="64748B">
              <a:alpha val="10000"/>
            </a:srgbClr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191000" y="57340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员工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只管扫码与查询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47" name="" descr="&lt;Slide style={{ width: 1280, height: 720, background: '#FFFFFF', position: 'relative', padding: 0 }} notes={`登录之后，三个人看到的是三个不一样的首页。&#10;&#10;管理员看到的是全局数据、人员审批和系统维护；主管多出库存预警和扫码入口；员工最简洁，正中间一个凸起的圆形按钮，一点就是扫码。&#10;&#10;底部导航也是按身份动态装的，不是所有人看到同一套菜单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界面 · 登录与三套后台&lt;/Text&gt;&#10;        &lt;Box style={{ flex: 1 }} /&gt;&#10;        &lt;Text style={{ fontSize: 14, color: '#94A3B8', letterSpacing: 4 }}&gt;UI 1 / 5&lt;/Text&gt;&#10;    &lt;/Box&gt;&#10;&#10;    {/* B 区 */}&#10;    &lt;Box style={{ position: 'absolute', left: 70, top: 122, width: 1140, height: 538, flexDirection: 'column' }}&gt;&#10;&#10;        &lt;Text style={{ fontSize: 18, color: '#334155' }}&gt;&#10;            同一套系统，三种身份打开是&#10;            &lt;span style={{ fontWeight: 'bold', color: '#2F6DF6' }}&gt;三个完全不同的后台&lt;/span&gt;&#10;            —— 导航项、能力开关、首页卡片都由 utils/roles.js 单一真源驱动。&#10;        &lt;/Text&gt;&#10;&#10;        {/* 手机架 */}&#10;        &lt;Box style={{ flexDirection: 'row', gap: 28, marginTop: 18, marginLeft: 136 }}&gt;&#10;&#10;            &lt;Box style={{ flexDirection: 'column', alignItems: 'center' }}&gt;&#10;                &lt;Image src='assets/ui_login.png' style={{ width: 196, height: 424, borderRadius: 14, border: '1px solid #D8DFEA' }} /&gt;&#10;                &lt;Text style={{ fontSize: 16, fontWeight: 'bold', color: '#101418', marginTop: 10 }}&gt;登录&lt;/Text&gt;&#10;                &lt;Text style={{ fontSize: 13, color: '#64748B', marginTop: 4 }}&gt;账号密码，按角色分流&lt;/Text&gt;&#10;            &lt;/Box&gt;&#10;&#10;            &lt;Box style={{ flexDirection: 'column', alignItems: 'center' }}&gt;&#10;                &lt;Image src='assets/ui_home_admin.png' style={{ width: 196, height: 424, borderRadius: 14, border: '1px solid #D8DFEA' }} /&gt;&#10;                &lt;Text style={{ fontSize: 16, fontWeight: 'bold', color: '#101418', marginTop: 10 }}&gt;管理员工作台&lt;/Text&gt;&#10;                &lt;Text style={{ fontSize: 13, color: '#64748B', marginTop: 4 }}&gt;全局监控，不含出入库&lt;/Text&gt;&#10;            &lt;/Box&gt;&#10;&#10;            &lt;Box style={{ flexDirection: 'column', alignItems: 'center' }}&gt;&#10;                &lt;Image src='assets/ui_home_manager.png' style={{ width: 196, height: 424, borderRadius: 14, border: '1px solid #D8DFEA' }} /&gt;&#10;                &lt;Text style={{ fontSize: 16, fontWeight: 'bold', color: '#101418', marginTop: 10 }}&gt;主管工作台&lt;/Text&gt;&#10;                &lt;Text style={{ fontSize: 13, color: '#64748B', marginTop: 4 }}&gt;出入库 + 审批 + 带队&lt;/Text&gt;&#10;            &lt;/Box&gt;&#10;&#10;            &lt;Box style={{ flexDirection: 'column', alignItems: 'center' }}&gt;&#10;                &lt;Image src='assets/ui_home_staff.png' style={{ width: 196, height: 424, borderRadius: 14, border: '1px solid #D8DFEA' }} /&gt;&#10;                &lt;Text style={{ fontSize: 16, fontWeight: 'bold', color: '#101418', marginTop: 10 }}&gt;员工工作台&lt;/Text&gt;&#10;                &lt;Text style={{ fontSize: 13, color: '#64748B', marginTop: 4 }}&gt;两个方向大卡直达扫码&lt;/Text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8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3257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界面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登录与三套后台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744200" y="4286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UI 1 / 5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85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同一套系统，三种身份打开是</a:t>
            </a:r>
            <a:r>
              <a:rPr lang="zh-CN" sz="1350" b="1">
                <a:solidFill>
                  <a:srgbClr val="2F6DF6"/>
                </a:solidFill>
                <a:latin typeface="Microsoft YaHei"/>
                <a:ea typeface="Microsoft YaHei"/>
              </a:rPr>
              <a:t>三个完全不同的后台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导航项、能力开关、首页卡片都由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utils/roles.js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单一真源驱动。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1962150" y="1543050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54" name=""/>
          <p:cNvPicPr>
            <a:picLocks noChangeAspect="1"/>
          </p:cNvPicPr>
          <p:nvPr/>
        </p:nvPicPr>
        <p:blipFill>
          <a:blip r:embed="rId1"/>
          <a:srcRect l="0" t="47" r="0" b="47"/>
          <a:stretch>
            <a:fillRect/>
          </a:stretch>
        </p:blipFill>
        <p:spPr>
          <a:xfrm rot="0" flipH="0" flipV="0">
            <a:off x="1962150" y="1543050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2743200" y="56769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登录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2276475" y="59055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账号密码，按角色分流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095750" y="1543050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58" name=""/>
          <p:cNvPicPr>
            <a:picLocks noChangeAspect="1"/>
          </p:cNvPicPr>
          <p:nvPr/>
        </p:nvPicPr>
        <p:blipFill>
          <a:blip r:embed="rId2"/>
          <a:srcRect l="0" t="47" r="0" b="47"/>
          <a:stretch>
            <a:fillRect/>
          </a:stretch>
        </p:blipFill>
        <p:spPr>
          <a:xfrm rot="0" flipH="0" flipV="0">
            <a:off x="4095750" y="1543050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572000" y="5676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管理员工作台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410075" y="59055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全局监控，不含出入库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229350" y="1543050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62" name=""/>
          <p:cNvPicPr>
            <a:picLocks noChangeAspect="1"/>
          </p:cNvPicPr>
          <p:nvPr/>
        </p:nvPicPr>
        <p:blipFill>
          <a:blip r:embed="rId3"/>
          <a:srcRect l="0" t="47" r="0" b="47"/>
          <a:stretch>
            <a:fillRect/>
          </a:stretch>
        </p:blipFill>
        <p:spPr>
          <a:xfrm rot="0" flipH="0" flipV="0">
            <a:off x="6229350" y="1543050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781800" y="56769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主管工作台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562725" y="5905500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出入库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审批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带队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362950" y="1543050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66" name=""/>
          <p:cNvPicPr>
            <a:picLocks noChangeAspect="1"/>
          </p:cNvPicPr>
          <p:nvPr/>
        </p:nvPicPr>
        <p:blipFill>
          <a:blip r:embed="rId4"/>
          <a:srcRect l="0" t="47" r="0" b="47"/>
          <a:stretch>
            <a:fillRect/>
          </a:stretch>
        </p:blipFill>
        <p:spPr>
          <a:xfrm rot="0" flipH="0" flipV="0">
            <a:off x="8362950" y="1543050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915400" y="56769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员工工作台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677275" y="59055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两个方向大卡直达扫码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1" name="" descr="&lt;Slide style={{ width: 1280, height: 720, background: '#FFFFFF', position: 'relative', padding: 0 }} notes={`物品是整个系统的地基。&#10;&#10;每件物品有编号、分类、规格、货架位置和安全库存。编号按分类自动生成——五金是 A 打头，电气是 B，劳保是 C，看一眼编号就知道属于哪一大类。&#10;&#10;这里有个关键设计：二维码里编的内容就是物品编号本身。所以扫码就等于查档案，不用再查一次数据库。&#10;&#10;低库存的物品会自动标红，点首页上那个数字，能直接钻到底下的清单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界面 · 物品档案&lt;/Text&gt;&#10;        &lt;Box style={{ flex: 1 }} /&gt;&#10;        &lt;Text style={{ fontSize: 14, color: '#94A3B8', letterSpacing: 4 }}&gt;UI 2 / 5&lt;/Text&gt;&#10;    &lt;/Box&gt;&#10;&#10;    {/* B 区 */}&#10;    &lt;Box style={{ position: 'absolute', left: 70, top: 122, width: 1140, height: 538, flexDirection: 'column' }}&gt;&#10;&#10;        &lt;Text style={{ fontSize: 17, color: '#334155' }}&gt;&#10;            物品是系统主档 —— &lt;span style={{ fontWeight: 'bold', color: '#2F6DF6' }}&gt;二维码内容就是物品编号&lt;/span&gt;，扫码即达档案。&#10;        &lt;/Text&gt;&#10;&#10;        {/* 手机架 */}&#10;        &lt;Box style={{ flexDirection: 'row', gap: 28, marginTop: 20, marginLeft: 136 }}&gt;&#10;&#10;            &lt;Box style={{ flexDirection: 'column', alignItems: 'center' }}&gt;&#10;                &lt;Image src='assets/ui_items.png' style={{ width: 196, height: 424, borderRadius: 14, border: '1px solid #D8DFEA' }} /&gt;&#10;                &lt;Text style={{ fontSize: 16, fontWeight: 'bold', color: '#101418', marginTop: 10 }}&gt;物品列表&lt;/Text&gt;&#10;                &lt;Text style={{ fontSize: 13, color: '#64748B', marginTop: 4 }}&gt;搜索 + 分类筛选&lt;/Text&gt;&#10;            &lt;/Box&gt;&#10;&#10;            &lt;Box style={{ flexDirection: 'column', alignItems: 'center' }}&gt;&#10;                &lt;Image src='assets/ui_items_low.png' style={{ width: 196, height: 424, borderRadius: 14, border: '1px solid #D8DFEA' }} /&gt;&#10;                &lt;Text style={{ fontSize: 16, fontWeight: 'bold', color: '#F97316', marginTop: 10 }}&gt;库存预警&lt;/Text&gt;&#10;                &lt;Text style={{ fontSize: 13, color: '#64748B', marginTop: 4 }}&gt;低于安全库存自动标红&lt;/Text&gt;&#10;            &lt;/Box&gt;&#10;&#10;            &lt;Box style={{ flexDirection: 'column', alignItems: 'center' }}&gt;&#10;                &lt;Image src='assets/ui_detail.png' style={{ width: 196, height: 424, borderRadius: 14, border: '1px solid #D8DFEA' }} /&gt;&#10;                &lt;Text style={{ fontSize: 16, fontWeight: 'bold', color: '#101418', marginTop: 10 }}&gt;物品详情&lt;/Text&gt;&#10;                &lt;Text style={{ fontSize: 13, color: '#64748B', marginTop: 4 }}&gt;二维码真实可扫&lt;/Text&gt;&#10;            &lt;/Box&gt;&#10;&#10;            &lt;Box style={{ flexDirection: 'column', alignItems: 'center' }}&gt;&#10;                &lt;Image src='assets/ui_edit.png' style={{ width: 196, height: 424, borderRadius: 14, border: '1px solid #D8DFEA' }} /&gt;&#10;                &lt;Text style={{ fontSize: 16, fontWeight: 'bold', color: '#101418', marginTop: 10 }}&gt;建档 / 编辑&lt;/Text&gt;&#10;                &lt;Text style={{ fontSize: 13, color: '#64748B', marginTop: 4 }}&gt;编号自动按分类生成&lt;/Text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09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286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界面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物品档案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0744200" y="4286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UI 2 / 5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物品是系统主档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 b="1">
                <a:solidFill>
                  <a:srgbClr val="2F6DF6"/>
                </a:solidFill>
                <a:latin typeface="Microsoft YaHei"/>
                <a:ea typeface="Microsoft YaHei"/>
              </a:rPr>
              <a:t>二维码内容就是物品编号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，扫码即达档案。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19621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78" name=""/>
          <p:cNvPicPr>
            <a:picLocks noChangeAspect="1"/>
          </p:cNvPicPr>
          <p:nvPr/>
        </p:nvPicPr>
        <p:blipFill>
          <a:blip r:embed="rId1"/>
          <a:srcRect l="0" t="47" r="0" b="47"/>
          <a:stretch>
            <a:fillRect/>
          </a:stretch>
        </p:blipFill>
        <p:spPr>
          <a:xfrm rot="0" flipH="0" flipV="0">
            <a:off x="19621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25908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物品列表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2438400" y="59150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搜索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分类筛选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40957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82" name=""/>
          <p:cNvPicPr>
            <a:picLocks noChangeAspect="1"/>
          </p:cNvPicPr>
          <p:nvPr/>
        </p:nvPicPr>
        <p:blipFill>
          <a:blip r:embed="rId2"/>
          <a:srcRect l="0" t="47" r="0" b="47"/>
          <a:stretch>
            <a:fillRect/>
          </a:stretch>
        </p:blipFill>
        <p:spPr>
          <a:xfrm rot="0" flipH="0" flipV="0">
            <a:off x="40957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7244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库存预警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4410075" y="59150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低于安全库存自动标红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2293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86" name=""/>
          <p:cNvPicPr>
            <a:picLocks noChangeAspect="1"/>
          </p:cNvPicPr>
          <p:nvPr/>
        </p:nvPicPr>
        <p:blipFill>
          <a:blip r:embed="rId3"/>
          <a:srcRect l="0" t="47" r="0" b="47"/>
          <a:stretch>
            <a:fillRect/>
          </a:stretch>
        </p:blipFill>
        <p:spPr>
          <a:xfrm rot="0" flipH="0" flipV="0">
            <a:off x="62293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8580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物品详情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734175" y="59150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二维码真实可扫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83629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90" name=""/>
          <p:cNvPicPr>
            <a:picLocks noChangeAspect="1"/>
          </p:cNvPicPr>
          <p:nvPr/>
        </p:nvPicPr>
        <p:blipFill>
          <a:blip r:embed="rId4"/>
          <a:srcRect l="0" t="47" r="0" b="47"/>
          <a:stretch>
            <a:fillRect/>
          </a:stretch>
        </p:blipFill>
        <p:spPr>
          <a:xfrm rot="0" flipH="0" flipV="0">
            <a:off x="83629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905875" y="56864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建档</a:t>
            </a:r>
            <a:r>
              <a:rPr lang="en-US" sz="120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编辑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743950" y="59150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编号自动按分类生成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" name="" descr="&lt;Slide style={{ width: 1280, height: 720, background: '#FFFFFF', position: 'relative', padding: 0 }} notes={`扫码页最上面是入库和出库两个大卡。&#10;&#10;方向一旦选定，会一路带到数量页并且锁住，页面上会出现一条彩色方向条，想换方向得先手动点一下切换。这是刻意的，出入库搞反了，账就反了。&#10;&#10;扫完码计数量，提交之后会有一张回执，告诉你这件东西变动前是多少、变动后是多少。一线的人最想看的其实就是这两个数字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界面 · 扫码出入库&lt;/Text&gt;&#10;        &lt;Box style={{ flex: 1 }} /&gt;&#10;        &lt;Text style={{ fontSize: 14, color: '#94A3B8', letterSpacing: 4 }}&gt;UI 3 / 5&lt;/Text&gt;&#10;    &lt;/Box&gt;&#10;&#10;    {/* B 区 */}&#10;    &lt;Box style={{ position: 'absolute', left: 70, top: 122, width: 1140, height: 538, flexDirection: 'column' }}&gt;&#10;&#10;        &lt;Text style={{ fontSize: 18, color: '#334155', lineHeight: 1.6 }}&gt;&#10;            员工点方向大卡直达扫码，&lt;span style={{ fontWeight: 'bold', color: '#0CA678' }}&gt;方向一路锁定到数量页&lt;/span&gt;&#10;            ；库存只经 stock_change 单一入口修改，带行锁、写流水。&#10;        &lt;/Text&gt;&#10;&#10;        {/* 手机架 */}&#10;        &lt;Box style={{ flexDirection: 'row', gap: 28, marginTop: 18, marginLeft: 136 }}&gt;&#10;&#10;            &lt;Box style={{ flexDirection: 'column', alignItems: 'center' }}&gt;&#10;                &lt;Image src='assets/ui_scan_staff.png' style={{ width: 196, height: 424, borderRadius: 14, border: '1px solid #D8DFEA' }} /&gt;&#10;                &lt;Box style={{ flexDirection: 'row', alignItems: 'center', gap: 8, marginTop: 10 }}&gt;&#10;                    &lt;Box style={{ width: 22, height: 22, borderRadius: 11, background: '#2F6DF6', justifyContent: 'center', alignItems: 'center' }}&gt;&#10;                        &lt;Text style={{ fontSize: 13, fontWeight: 'bold', color: '#FFFFFF' }}&gt;1&lt;/Text&gt;&#10;                    &lt;/Box&gt;&#10;                    &lt;Text style={{ fontSize: 16, fontWeight: 'bold', color: '#101418' }}&gt;选方向&lt;/Text&gt;&#10;                &lt;/Box&gt;&#10;                &lt;Text style={{ fontSize: 13, color: '#64748B', marginTop: 4 }}&gt;员工扫码入口（凸起按钮）&lt;/Text&gt;&#10;            &lt;/Box&gt;&#10;&#10;            &lt;Box style={{ flexDirection: 'column', alignItems: 'center' }}&gt;&#10;                &lt;Image src='assets/ui_scan_manager.png' style={{ width: 196, height: 424, borderRadius: 14, border: '1px solid #D8DFEA' }} /&gt;&#10;                &lt;Box style={{ flexDirection: 'row', alignItems: 'center', gap: 8, marginTop: 10 }}&gt;&#10;                    &lt;Box style={{ width: 22, height: 22, borderRadius: 11, background: '#2F6DF6', justifyContent: 'center', alignItems: 'center' }}&gt;&#10;                        &lt;Text style={{ fontSize: 13, fontWeight: 'bold', color: '#FFFFFF' }}&gt;2&lt;/Text&gt;&#10;                    &lt;/Box&gt;&#10;                    &lt;Text style={{ fontSize: 16, fontWeight: 'bold', color: '#101418' }}&gt;扫码&lt;/Text&gt;&#10;                &lt;/Box&gt;&#10;                &lt;Text style={{ fontSize: 13, color: '#64748B', marginTop: 4 }}&gt;主管另有普通扫码页签&lt;/Text&gt;&#10;            &lt;/Box&gt;&#10;&#10;            &lt;Box style={{ flexDirection: 'column', alignItems: 'center' }}&gt;&#10;                &lt;Image src='assets/ui_stock_in.png' style={{ width: 196, height: 424, borderRadius: 14, border: '1px solid #D8DFEA' }} /&gt;&#10;                &lt;Box style={{ flexDirection: 'row', alignItems: 'center', gap: 8, marginTop: 10 }}&gt;&#10;                    &lt;Box style={{ width: 22, height: 22, borderRadius: 11, background: '#0CA678', justifyContent: 'center', alignItems: 'center' }}&gt;&#10;                        &lt;Text style={{ fontSize: 13, fontWeight: 'bold', color: '#FFFFFF' }}&gt;3&lt;/Text&gt;&#10;                    &lt;/Box&gt;&#10;                    &lt;Text style={{ fontSize: 16, fontWeight: 'bold', color: '#101418' }}&gt;入库数量&lt;/Text&gt;&#10;                &lt;/Box&gt;&#10;                &lt;Text style={{ fontSize: 13, color: '#64748B', marginTop: 4 }}&gt;彩色方向条锁定入库&lt;/Text&gt;&#10;            &lt;/Box&gt;&#10;&#10;            &lt;Box style={{ flexDirection: 'column', alignItems: 'center' }}&gt;&#10;                &lt;Image src='assets/ui_stock_out.png' style={{ width: 196, height: 424, borderRadius: 14, border: '1px solid #D8DFEA' }} /&gt;&#10;                &lt;Box style={{ flexDirection: 'row', alignItems: 'center', gap: 8, marginTop: 10 }}&gt;&#10;                    &lt;Box style={{ width: 22, height: 22, borderRadius: 11, background: '#F97316', justifyContent: 'center', alignItems: 'center' }}&gt;&#10;                        &lt;Text style={{ fontSize: 13, fontWeight: 'bold', color: '#FFFFFF' }}&gt;4&lt;/Text&gt;&#10;                    &lt;/Box&gt;&#10;                    &lt;Text style={{ fontSize: 16, fontWeight: 'bold', color: '#101418' }}&gt;出库数量&lt;/Text&gt;&#10;                &lt;/Box&gt;&#10;                &lt;Text style={{ fontSize: 13, color: '#64748B', marginTop: 4 }}&gt;超库存即时拦截&lt;/Text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10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60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界面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扫码出入库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744200" y="4286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UI 3 / 5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员工点方向大卡直达扫码，</a:t>
            </a:r>
            <a:r>
              <a:rPr lang="zh-CN" sz="1350" b="1">
                <a:solidFill>
                  <a:srgbClr val="0CA678"/>
                </a:solidFill>
                <a:latin typeface="Microsoft YaHei"/>
                <a:ea typeface="Microsoft YaHei"/>
              </a:rPr>
              <a:t>方向一路锁定到数量页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；库存只经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stock_change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单一入口修改，带行锁、写流水。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962150" y="16668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Id1"/>
          <a:srcRect l="0" t="47" r="0" b="47"/>
          <a:stretch>
            <a:fillRect/>
          </a:stretch>
        </p:blipFill>
        <p:spPr>
          <a:xfrm rot="0" flipH="0" flipV="0">
            <a:off x="1962150" y="16668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33" name=""/>
          <p:cNvSpPr/>
          <p:nvPr/>
        </p:nvSpPr>
        <p:spPr>
          <a:xfrm rot="0" flipH="0" flipV="0">
            <a:off x="2524125" y="58007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590800" y="58293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2809875" y="58102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选方向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152650" y="6048375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员工扫码入口（凸起按钮）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095750" y="16668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2"/>
          <a:srcRect l="0" t="47" r="0" b="47"/>
          <a:stretch>
            <a:fillRect/>
          </a:stretch>
        </p:blipFill>
        <p:spPr>
          <a:xfrm rot="0" flipH="0" flipV="0">
            <a:off x="4095750" y="16668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39" name=""/>
          <p:cNvSpPr/>
          <p:nvPr/>
        </p:nvSpPr>
        <p:spPr>
          <a:xfrm rot="0" flipH="0" flipV="0">
            <a:off x="4733925" y="58007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800600" y="58293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019675" y="5810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扫码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410075" y="604837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主管另有普通扫码页签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229350" y="16668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 r:embed="rId3"/>
          <a:srcRect l="0" t="47" r="0" b="47"/>
          <a:stretch>
            <a:fillRect/>
          </a:stretch>
        </p:blipFill>
        <p:spPr>
          <a:xfrm rot="0" flipH="0" flipV="0">
            <a:off x="6229350" y="16668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45" name=""/>
          <p:cNvSpPr/>
          <p:nvPr/>
        </p:nvSpPr>
        <p:spPr>
          <a:xfrm rot="0" flipH="0" flipV="0">
            <a:off x="6715125" y="58007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781800" y="58293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000875" y="5810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入库数量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10350" y="60483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彩色方向条锁定入库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62950" y="16668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50" name=""/>
          <p:cNvPicPr>
            <a:picLocks noChangeAspect="1"/>
          </p:cNvPicPr>
          <p:nvPr/>
        </p:nvPicPr>
        <p:blipFill>
          <a:blip r:embed="rId4"/>
          <a:srcRect l="0" t="47" r="0" b="47"/>
          <a:stretch>
            <a:fillRect/>
          </a:stretch>
        </p:blipFill>
        <p:spPr>
          <a:xfrm rot="0" flipH="0" flipV="0">
            <a:off x="8362950" y="16668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51" name=""/>
          <p:cNvSpPr/>
          <p:nvPr/>
        </p:nvSpPr>
        <p:spPr>
          <a:xfrm rot="0" flipH="0" flipV="0">
            <a:off x="8848725" y="58007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915400" y="58293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134475" y="5810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出库数量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867775" y="60483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超库存即时拦截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7" name="" descr="&lt;Slide style={{ width: 1280, height: 720, background: '#FFFFFF', position: 'relative', padding: 0 }} notes={`这一页是几条辅路。&#10;&#10;扫码即建档，扫到一个没见过的编号时，系统会按前缀去找同一族的档案。比如扫到 A-0001-3，它会去找 A-0001 打头的其他件，有就直接套用名称和规格，没有才让人现场填。建档和入库是一次完成的，不会出现建了档却没进账。&#10;&#10;批量导入是给电脑端工具收尾用的：那边导出表格，这边直接粘贴，逐行校验后再落库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界面 · 回执、导入与我的&lt;/Text&gt;&#10;        &lt;Box style={{ flex: 1 }} /&gt;&#10;        &lt;Text style={{ fontSize: 14, color: '#94A3B8', letterSpacing: 4 }}&gt;UI 4 / 5&lt;/Text&gt;&#10;    &lt;/Box&gt;&#10;&#10;    {/* B 区 */}&#10;    &lt;Box style={{ position: 'absolute', left: 70, top: 122, width: 1140, height: 538, flexDirection: 'column' }}&gt;&#10;&#10;        &lt;Text style={{ fontSize: 17, color: '#334155' }}&gt;&#10;            建档与入库&lt;span style={{ fontWeight: 'bold', color: '#2F6DF6' }}&gt;原子完成&lt;/span&gt;，批量导入支持直接粘贴 CSV。&#10;        &lt;/Text&gt;&#10;&#10;        {/* 手机架（5 台） */}&#10;        &lt;Box style={{ flexDirection: 'row', gap: 22, marginTop: 24, marginLeft: 64 }}&gt;&#10;&#10;            &lt;Box style={{ flexDirection: 'column', alignItems: 'center' }}&gt;&#10;                &lt;Image src='assets/ui_stock_new.png' style={{ width: 185, height: 400, borderRadius: 14, border: '1px solid #D8DFEA' }} /&gt;&#10;                &lt;Text style={{ fontSize: 15, fontWeight: 'bold', color: '#101418', marginTop: 10 }}&gt;扫码即建档&lt;/Text&gt;&#10;                &lt;Text style={{ fontSize: 13, color: '#64748B', marginTop: 3 }}&gt;套用同族档案一键入库&lt;/Text&gt;&#10;            &lt;/Box&gt;&#10;&#10;            &lt;Box style={{ flexDirection: 'column', alignItems: 'center' }}&gt;&#10;                &lt;Image src='assets/ui_stock_ok.png' style={{ width: 185, height: 400, borderRadius: 14, border: '1px solid #D8DFEA' }} /&gt;&#10;                &lt;Text style={{ fontSize: 15, fontWeight: 'bold', color: '#0CA678', marginTop: 10 }}&gt;成功回执&lt;/Text&gt;&#10;                &lt;Text style={{ fontSize: 13, color: '#64748B', marginTop: 3 }}&gt;变动前后一目了然&lt;/Text&gt;&#10;            &lt;/Box&gt;&#10;&#10;            &lt;Box style={{ flexDirection: 'column', alignItems: 'center' }}&gt;&#10;                &lt;Image src='assets/ui_import.png' style={{ width: 185, height: 400, borderRadius: 14, border: '1px solid #D8DFEA' }} /&gt;&#10;                &lt;Text style={{ fontSize: 15, fontWeight: 'bold', color: '#101418', marginTop: 10 }}&gt;批量导入&lt;/Text&gt;&#10;                &lt;Text style={{ fontSize: 13, color: '#64748B', marginTop: 3 }}&gt;粘贴 CSV，逐行校验&lt;/Text&gt;&#10;            &lt;/Box&gt;&#10;&#10;            &lt;Box style={{ flexDirection: 'column', alignItems: 'center' }}&gt;&#10;                &lt;Image src='assets/ui_my_staff.png' style={{ width: 185, height: 400, borderRadius: 14, border: '1px solid #D8DFEA' }} /&gt;&#10;                &lt;Text style={{ fontSize: 15, fontWeight: 'bold', color: '#101418', marginTop: 10 }}&gt;员工「我的」&lt;/Text&gt;&#10;                &lt;Text style={{ fontSize: 13, color: '#64748B', marginTop: 3 }}&gt;个人流水与资料&lt;/Text&gt;&#10;            &lt;/Box&gt;&#10;&#10;            &lt;Box style={{ flexDirection: 'column', alignItems: 'center' }}&gt;&#10;                &lt;Image src='assets/ui_my_admin.png' style={{ width: 185, height: 400, borderRadius: 14, border: '1px solid #D8DFEA' }} /&gt;&#10;                &lt;Text style={{ fontSize: 15, fontWeight: 'bold', color: '#101418', marginTop: 10 }}&gt;管理员「我的」&lt;/Text&gt;&#10;                &lt;Text style={{ fontSize: 13, color: '#64748B', marginTop: 3 }}&gt;人员、数据与系统维护&lt;/Text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11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界面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回执、导入与我的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744200" y="4286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UI 4 / 5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建档与入库</a:t>
            </a:r>
            <a:r>
              <a:rPr lang="zh-CN" sz="1275" b="1">
                <a:solidFill>
                  <a:srgbClr val="2F6DF6"/>
                </a:solidFill>
                <a:latin typeface="Microsoft YaHei"/>
                <a:ea typeface="Microsoft YaHei"/>
              </a:rPr>
              <a:t>原子完成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，批量导入支持直接粘贴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 xml:space="preserve"> CSV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1276350" y="1590675"/>
            <a:ext cx="1762125" cy="38100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"/>
          <a:srcRect l="0" t="73" r="0" b="73"/>
          <a:stretch>
            <a:fillRect/>
          </a:stretch>
        </p:blipFill>
        <p:spPr>
          <a:xfrm rot="0" flipH="0" flipV="0">
            <a:off x="1276350" y="1590675"/>
            <a:ext cx="1762125" cy="3810000"/>
          </a:xfrm>
          <a:prstGeom prst="roundRect">
            <a:avLst>
              <a:gd name="adj" fmla="val 7568"/>
            </a:avLst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800225" y="54959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扫码即建档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543050" y="56959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套用同族档案一键入库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248025" y="1590675"/>
            <a:ext cx="1762125" cy="38100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2"/>
          <a:srcRect l="0" t="73" r="0" b="73"/>
          <a:stretch>
            <a:fillRect/>
          </a:stretch>
        </p:blipFill>
        <p:spPr>
          <a:xfrm rot="0" flipH="0" flipV="0">
            <a:off x="3248025" y="1590675"/>
            <a:ext cx="1762125" cy="3810000"/>
          </a:xfrm>
          <a:prstGeom prst="roundRect">
            <a:avLst>
              <a:gd name="adj" fmla="val 7568"/>
            </a:avLst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48100" y="54959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CA678"/>
                </a:solidFill>
                <a:latin typeface="Microsoft YaHei"/>
                <a:ea typeface="Microsoft YaHei"/>
              </a:rPr>
              <a:t>成功回执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638550" y="56959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变动前后一目了然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219700" y="1590675"/>
            <a:ext cx="1762125" cy="38100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 r:embed="rId3"/>
          <a:srcRect l="0" t="73" r="0" b="73"/>
          <a:stretch>
            <a:fillRect/>
          </a:stretch>
        </p:blipFill>
        <p:spPr>
          <a:xfrm rot="0" flipH="0" flipV="0">
            <a:off x="5219700" y="1590675"/>
            <a:ext cx="1762125" cy="3810000"/>
          </a:xfrm>
          <a:prstGeom prst="roundRect">
            <a:avLst>
              <a:gd name="adj" fmla="val 7568"/>
            </a:avLst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819775" y="54959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批量导入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534025" y="56959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粘贴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CSV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，逐行校验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191375" y="1590675"/>
            <a:ext cx="1762125" cy="38100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 r:embed="rId4"/>
          <a:srcRect l="0" t="73" r="0" b="73"/>
          <a:stretch>
            <a:fillRect/>
          </a:stretch>
        </p:blipFill>
        <p:spPr>
          <a:xfrm rot="0" flipH="0" flipV="0">
            <a:off x="7191375" y="1590675"/>
            <a:ext cx="1762125" cy="3810000"/>
          </a:xfrm>
          <a:prstGeom prst="roundRect">
            <a:avLst>
              <a:gd name="adj" fmla="val 7568"/>
            </a:avLst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48575" y="54959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员工「我的」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39050" y="56959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个人流水与资料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9163050" y="1590675"/>
            <a:ext cx="1762125" cy="38100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 r:embed="rId5"/>
          <a:srcRect l="0" t="73" r="0" b="73"/>
          <a:stretch>
            <a:fillRect/>
          </a:stretch>
        </p:blipFill>
        <p:spPr>
          <a:xfrm rot="0" flipH="0" flipV="0">
            <a:off x="9163050" y="1590675"/>
            <a:ext cx="1762125" cy="3810000"/>
          </a:xfrm>
          <a:prstGeom prst="roundRect">
            <a:avLst>
              <a:gd name="adj" fmla="val 7568"/>
            </a:avLst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544050" y="54959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1418"/>
                </a:solidFill>
                <a:latin typeface="Microsoft YaHei"/>
                <a:ea typeface="Microsoft YaHei"/>
              </a:rPr>
              <a:t>管理员「我的」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429750" y="56959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人员、数据与系统维护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5" name="" descr="&lt;Slide style={{ width: 1280, height: 720, background: '#FFFFFF', position: 'relative', padding: 0 }} notes={`流水是可追溯的核心。&#10;&#10;每一笔都记着谁、什么时候、对哪件物品、是入还是出、数量多少、变动前后的库存各是多少。查的时候可以按人、按物品、按时间段筛，有权限的人还能导出。&#10;&#10;人员这边走的是提交、审批、启用三步，员工不能自己注册。有一个细节我特意做了：像通过并设为主管这种提权操作，一定要再弹一次确认框，点错一次代价太大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界面 · 流水与人员&lt;/Text&gt;&#10;        &lt;Box style={{ flex: 1 }} /&gt;&#10;        &lt;Text style={{ fontSize: 14, color: '#94A3B8', letterSpacing: 4 }}&gt;UI 5 / 5&lt;/Text&gt;&#10;    &lt;/Box&gt;&#10;&#10;    {/* B 区 */}&#10;    &lt;Box style={{ position: 'absolute', left: 70, top: 122, width: 1140, height: 538, flexDirection: 'column' }}&gt;&#10;&#10;        &lt;Text style={{ fontSize: 17, color: '#334155' }}&gt;&#10;            每一笔库存变动都留下&lt;span style={{ fontWeight: 'bold', color: '#2F6DF6' }}&gt;可追溯的流水&lt;/span&gt;；账号走「提交 → 审批 → 启用」流程。&#10;        &lt;/Text&gt;&#10;&#10;        {/* 手机架 */}&#10;        &lt;Box style={{ flexDirection: 'row', gap: 28, marginTop: 20, marginLeft: 136 }}&gt;&#10;&#10;            &lt;Box style={{ flexDirection: 'column', alignItems: 'center' }}&gt;&#10;                &lt;Image src='assets/ui_records.png' style={{ width: 196, height: 424, borderRadius: 14, border: '1px solid #D8DFEA' }} /&gt;&#10;                &lt;Text style={{ fontSize: 16, fontWeight: 'bold', color: '#101418', marginTop: 10 }}&gt;流水追溯&lt;/Text&gt;&#10;                &lt;Text style={{ fontSize: 13, color: '#64748B', marginTop: 4 }}&gt;按人 / 按物筛选，可导出&lt;/Text&gt;&#10;            &lt;/Box&gt;&#10;&#10;            &lt;Box style={{ flexDirection: 'column', alignItems: 'center' }}&gt;&#10;                &lt;Image src='assets/ui_staff.png' style={{ width: 196, height: 424, borderRadius: 14, border: '1px solid #D8DFEA' }} /&gt;&#10;                &lt;Text style={{ fontSize: 16, fontWeight: 'bold', color: '#101418', marginTop: 10 }}&gt;人员管理&lt;/Text&gt;&#10;                &lt;Text style={{ fontSize: 13, color: '#64748B', marginTop: 4 }}&gt;待审批 / 正常 / 停用&lt;/Text&gt;&#10;            &lt;/Box&gt;&#10;&#10;            &lt;Box style={{ flexDirection: 'column', alignItems: 'center' }}&gt;&#10;                &lt;Image src='assets/ui_staff_review.png' style={{ width: 196, height: 424, borderRadius: 14, border: '1px solid #D8DFEA' }} /&gt;&#10;                &lt;Text style={{ fontSize: 16, fontWeight: 'bold', color: '#2F6DF6', marginTop: 10 }}&gt;账号审批&lt;/Text&gt;&#10;                &lt;Text style={{ fontSize: 13, color: '#64748B', marginTop: 4 }}&gt;提权需二次确认&lt;/Text&gt;&#10;            &lt;/Box&gt;&#10;&#10;            &lt;Box style={{ flexDirection: 'column', alignItems: 'center' }}&gt;&#10;                &lt;Image src='assets/ui_profile.png' style={{ width: 196, height: 424, borderRadius: 14, border: '1px solid #D8DFEA' }} /&gt;&#10;                &lt;Text style={{ fontSize: 16, fontWeight: 'bold', color: '#101418', marginTop: 10 }}&gt;个人资料&lt;/Text&gt;&#10;                &lt;Text style={{ fontSize: 13, color: '#64748B', marginTop: 4 }}&gt;按能力显隐入口&lt;/Text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12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60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界面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流水与人员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744200" y="4286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UI 5 / 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每一笔库存变动都留下</a:t>
            </a:r>
            <a:r>
              <a:rPr lang="zh-CN" sz="1275" b="1">
                <a:solidFill>
                  <a:srgbClr val="2F6DF6"/>
                </a:solidFill>
                <a:latin typeface="Microsoft YaHei"/>
                <a:ea typeface="Microsoft YaHei"/>
              </a:rPr>
              <a:t>可追溯的流水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；账号走「提交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审批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启用」流程。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9621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 r:embed="rId1"/>
          <a:srcRect l="0" t="47" r="0" b="47"/>
          <a:stretch>
            <a:fillRect/>
          </a:stretch>
        </p:blipFill>
        <p:spPr>
          <a:xfrm rot="0" flipH="0" flipV="0">
            <a:off x="19621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5908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流水追溯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209800" y="591502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按人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按物筛选，可导出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0957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 r:embed="rId2"/>
          <a:srcRect l="0" t="47" r="0" b="47"/>
          <a:stretch>
            <a:fillRect/>
          </a:stretch>
        </p:blipFill>
        <p:spPr>
          <a:xfrm rot="0" flipH="0" flipV="0">
            <a:off x="40957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7244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人员管理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467225" y="59150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待审批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正常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停用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2293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rId3"/>
          <a:srcRect l="0" t="47" r="0" b="47"/>
          <a:stretch>
            <a:fillRect/>
          </a:stretch>
        </p:blipFill>
        <p:spPr>
          <a:xfrm rot="0" flipH="0" flipV="0">
            <a:off x="62293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580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F6DF6"/>
                </a:solidFill>
                <a:latin typeface="Microsoft YaHei"/>
                <a:ea typeface="Microsoft YaHei"/>
              </a:rPr>
              <a:t>账号审批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734175" y="59150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提权需二次确认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8362950" y="1552575"/>
            <a:ext cx="1866900" cy="4038600"/>
          </a:xfrm>
          <a:prstGeom prst="rect">
            <a:avLst/>
          </a:prstGeom>
          <a:ln w="12700">
            <a:solidFill>
              <a:srgbClr val="D8DFEA"/>
            </a:solidFill>
            <a:prstDash val="solid"/>
          </a:ln>
        </p:spPr>
        <p:txBody>
          <a:bodyPr/>
          <a:p/>
        </p:txBody>
      </p:sp>
      <p:pic>
        <p:nvPicPr>
          <p:cNvPr id="104" name=""/>
          <p:cNvPicPr>
            <a:picLocks noChangeAspect="1"/>
          </p:cNvPicPr>
          <p:nvPr/>
        </p:nvPicPr>
        <p:blipFill>
          <a:blip r:embed="rId4"/>
          <a:srcRect l="0" t="47" r="0" b="47"/>
          <a:stretch>
            <a:fillRect/>
          </a:stretch>
        </p:blipFill>
        <p:spPr>
          <a:xfrm rot="0" flipH="0" flipV="0">
            <a:off x="8362950" y="1552575"/>
            <a:ext cx="1866900" cy="4038600"/>
          </a:xfrm>
          <a:prstGeom prst="roundRect">
            <a:avLst>
              <a:gd name="adj" fmla="val 7143"/>
            </a:avLst>
          </a:prstGeom>
          <a:ln/>
        </p:spPr>
      </p:pic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991600" y="568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01418"/>
                </a:solidFill>
                <a:latin typeface="Microsoft YaHei"/>
                <a:ea typeface="Microsoft YaHei"/>
              </a:rPr>
              <a:t>个人资料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867775" y="59150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按能力显隐入口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9" name="" descr="&lt;Slide style={{ width: 1280, height: 720, background: '#FFFFFF', position: 'relative', padding: 0 }} notes={`采购到货那天，来的往往是一张 Excel 清单，上面写着五把扳手、三卷胶带。&#10;&#10;电脑端这个工具就是处理这张清单的：粘贴进去，它会按数量把每一件拆成独立编号，五把扳手就是 A-0001-1 到 A-0001-5，一物一码。然后生成标签，直接调浏览器打印。&#10;&#10;它是纯离线的单文件网页，双击就开，不用装任何东西，车间那台没联网的电脑上也能用。`}&gt;&#10;&#10;    {/* A 区标题块 */}&#10;    &lt;Box style={{ position: 'absolute', left: 70, top: 30, width: 1140, height: 46, flexDirection: 'row', alignItems: 'center', gap: 16 }}&gt;&#10;        &lt;Box style={{ width: 6, height: 34, background: '#F97316', borderRadius: 3 }} /&gt;&#10;        &lt;Text style={{ fontSize: 34, fontWeight: 'bold', color: '#101418' }}&gt;电脑端 · 打码工具&lt;/Text&gt;&#10;        &lt;Box style={{ flex: 1 }} /&gt;&#10;        &lt;Text style={{ fontSize: 14, color: '#94A3B8', letterSpacing: 4 }}&gt;PC TOOLS&lt;/Text&gt;&#10;    &lt;/Box&gt;&#10;&#10;    {/* B 区左文右图 */}&#10;    &lt;Box style={{ position: 'absolute', left: 70, top: 140, width: 560, height: 500, flexDirection: 'column' }}&gt;&#10;&#10;        &lt;Text style={{ fontSize: 30, fontWeight: 'bold', color: '#101418' }}&gt;采购到货的第一站&lt;/Text&gt;&#10;        &lt;Text style={{ fontSize: 16, color: '#64748B', marginTop: 10, lineHeight: 1.6 }}&gt;&#10;            纯前端离线页面，浏览器打开即用；粘贴 Excel 清单，按数量逐件展开编号。&#10;        &lt;/Text&gt;&#10;&#10;        &lt;Box style={{ flexDirection: 'column', gap: 18, marginTop: 30 }}&gt;&#10;&#10;            &lt;Box style={{ flexDirection: 'row', alignItems: 'flex-start', gap: 14 }}&gt;&#10;                &lt;Box style={{ width: 30, height: 30, borderRadius: 15, background: '#F97316', justifyContent: 'center', alignItems: 'center' }}&gt;&#10;                    &lt;Text style={{ fontSize: 15, fontWeight: 'bold', color: '#FFFFFF' }}&gt;1&lt;/Text&gt;&#10;                &lt;/Box&gt;&#10;                &lt;Box style={{ flexDirection: 'column' }}&gt;&#10;                    &lt;Text style={{ fontSize: 18, fontWeight: 'bold', color: '#101418' }}&gt;粘贴清单&lt;/Text&gt;&#10;                    &lt;Text style={{ fontSize: 14, color: '#64748B', marginTop: 3 }}&gt;从 Excel 复制名称、分类、规格、数量&lt;/Text&gt;&#10;                &lt;/Box&gt;&#10;            &lt;/Box&gt;&#10;&#10;            &lt;Box style={{ flexDirection: 'row', alignItems: 'flex-start', gap: 14 }}&gt;&#10;                &lt;Box style={{ width: 30, height: 30, borderRadius: 15, background: '#F97316', justifyContent: 'center', alignItems: 'center' }}&gt;&#10;                    &lt;Text style={{ fontSize: 15, fontWeight: 'bold', color: '#FFFFFF' }}&gt;2&lt;/Text&gt;&#10;                &lt;/Box&gt;&#10;                &lt;Box style={{ flexDirection: 'column' }}&gt;&#10;                    &lt;Text style={{ fontSize: 18, fontWeight: 'bold', color: '#101418' }}&gt;解析并生成编号&lt;/Text&gt;&#10;                    &lt;Text style={{ fontSize: 14, color: '#64748B', marginTop: 3 }}&gt;一件一码：5 件展开为 A-0001-1 … A-0001-5&lt;/Text&gt;&#10;                &lt;/Box&gt;&#10;            &lt;/Box&gt;&#10;&#10;            &lt;Box style={{ flexDirection: 'row', alignItems: 'flex-start', gap: 14 }}&gt;&#10;                &lt;Box style={{ width: 30, height: 30, borderRadius: 15, background: '#F97316', justifyContent: 'center', alignItems: 'center' }}&gt;&#10;                    &lt;Text style={{ fontSize: 15, fontWeight: 'bold', color: '#FFFFFF' }}&gt;3&lt;/Text&gt;&#10;                &lt;/Box&gt;&#10;                &lt;Box style={{ flexDirection: 'column' }}&gt;&#10;                    &lt;Text style={{ fontSize: 18, fontWeight: 'bold', color: '#101418' }}&gt;打印贴码&lt;/Text&gt;&#10;                    &lt;Text style={{ fontSize: 14, color: '#64748B', marginTop: 3 }}&gt;标签直接打印，导出 CSV 供批量导入&lt;/Text&gt;&#10;                &lt;/Box&gt;&#10;            &lt;/Box&gt;&#10;&#10;        &lt;/Box&gt;&#10;&#10;        &lt;Box style={{ flexDirection: 'row', gap: 12, marginTop: 30 }}&gt;&#10;            &lt;Box style={{ paddingLeft: 14, paddingRight: 14, paddingTop: 8, paddingBottom: 8, borderRadius: 8, background: 'rgba(249,115,22,0.08)' }}&gt;&#10;                &lt;Text style={{ fontSize: 13, color: '#C2410C' }}&gt;零依赖 · 单文件 HTML&lt;/Text&gt;&#10;            &lt;/Box&gt;&#10;            &lt;Box style={{ paddingLeft: 14, paddingRight: 14, paddingTop: 8, paddingBottom: 8, borderRadius: 8, background: 'rgba(249,115,22,0.08)' }}&gt;&#10;                &lt;Text style={{ fontSize: 13, color: '#C2410C' }}&gt;二维码本地生成&lt;/Text&gt;&#10;            &lt;/Box&gt;&#10;        &lt;/Box&gt;&#10;&#10;    &lt;/Box&gt;&#10;&#10;    {/* 右侧大图 */}&#10;    &lt;Box style={{ position: 'absolute', left: 672, top: 140, width: 492, height: 500, borderRadius: 16, border: '1px solid #D8DFEA', boxShadow: '0 6px 24px rgba(16,20,24,0.06)', overflow: 'hidden' }}&gt;&#10;        &lt;Image src='assets/ui_pctools.png' style={{ width: 492, height: 500, objectFit: 'cover' }} /&gt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13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60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电脑端</a:t>
            </a:r>
            <a:r>
              <a:rPr lang="en-US" sz="2550" b="1">
                <a:solidFill>
                  <a:srgbClr val="10141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打码工具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563225" y="42862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PC TOOLS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66750" y="1333500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01418"/>
                </a:solidFill>
                <a:latin typeface="Microsoft YaHei"/>
                <a:ea typeface="Microsoft YaHei"/>
              </a:rPr>
              <a:t>采购到货的第一站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66750" y="177165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纯前端离线页面，浏览器打开即用；粘贴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清单，按数量逐件展开编号。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66750" y="23526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62000" y="24098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85850" y="235267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1418"/>
                </a:solidFill>
                <a:latin typeface="Microsoft YaHei"/>
                <a:ea typeface="Microsoft YaHei"/>
              </a:rPr>
              <a:t>粘贴清单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85850" y="25908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复制名称、分类、规格、数量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66750" y="2924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" y="29813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85850" y="2924175"/>
            <a:ext cx="2752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1418"/>
                </a:solidFill>
                <a:latin typeface="Microsoft YaHei"/>
                <a:ea typeface="Microsoft YaHei"/>
              </a:rPr>
              <a:t>解析并生成编号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085850" y="3162300"/>
            <a:ext cx="2752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一件一码：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件展开为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A-0001-1 … A-0001-5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66750" y="34956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" y="35528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85850" y="349567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1418"/>
                </a:solidFill>
                <a:latin typeface="Microsoft YaHei"/>
                <a:ea typeface="Microsoft YaHei"/>
              </a:rPr>
              <a:t>打印贴码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85850" y="373380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标签直接打印，导出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供批量导入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66750" y="4181475"/>
            <a:ext cx="1504950" cy="304800"/>
          </a:xfrm>
          <a:prstGeom prst="roundRect">
            <a:avLst>
              <a:gd name="adj" fmla="val 25000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425767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2410C"/>
                </a:solidFill>
                <a:latin typeface="Microsoft YaHei"/>
                <a:ea typeface="Microsoft YaHei"/>
              </a:rPr>
              <a:t>零依赖</a:t>
            </a:r>
            <a:r>
              <a:rPr lang="en-US" sz="975">
                <a:solidFill>
                  <a:srgbClr val="C2410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2410C"/>
                </a:solidFill>
                <a:latin typeface="Microsoft YaHei"/>
                <a:ea typeface="Microsoft YaHei"/>
              </a:rPr>
              <a:t>单文件</a:t>
            </a:r>
            <a:r>
              <a:rPr lang="en-US" sz="975">
                <a:solidFill>
                  <a:srgbClr val="C2410C"/>
                </a:solidFill>
                <a:latin typeface="Microsoft YaHei"/>
                <a:ea typeface="Microsoft YaHei"/>
              </a:rPr>
              <a:t xml:space="preserve"> HTML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2286000" y="4181475"/>
            <a:ext cx="1133475" cy="304800"/>
          </a:xfrm>
          <a:prstGeom prst="roundRect">
            <a:avLst>
              <a:gd name="adj" fmla="val 25000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2419350" y="42576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2410C"/>
                </a:solidFill>
                <a:latin typeface="Microsoft YaHei"/>
                <a:ea typeface="Microsoft YaHei"/>
              </a:rPr>
              <a:t>二维码本地生成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400800" y="1333500"/>
            <a:ext cx="4686300" cy="4762500"/>
          </a:xfrm>
          <a:prstGeom prst="roundRect">
            <a:avLst>
              <a:gd name="adj" fmla="val 3252"/>
            </a:avLst>
          </a:prstGeom>
          <a:ln w="12700">
            <a:solidFill>
              <a:srgbClr val="D8DFEA"/>
            </a:solidFill>
            <a:prstDash val="solid"/>
          </a:ln>
          <a:effectLst>
            <a:outerShdw blurRad="228600" dist="57150" dir="5400000">
              <a:srgbClr val="101418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 r:embed="rId1"/>
          <a:srcRect l="31" t="0" r="31" b="0"/>
          <a:stretch>
            <a:fillRect/>
          </a:stretch>
        </p:blipFill>
        <p:spPr>
          <a:xfrm rot="0" flipH="0" flipV="0">
            <a:off x="6400800" y="1333500"/>
            <a:ext cx="4686300" cy="4762500"/>
          </a:xfrm>
          <a:custGeom>
            <a:pathLst>
              <a:path w="492" h="500">
                <a:moveTo>
                  <a:pt x="476" y="0"/>
                </a:moveTo>
                <a:cubicBezTo>
                  <a:pt x="485" y="0"/>
                  <a:pt x="492" y="7"/>
                  <a:pt x="492" y="16"/>
                </a:cubicBezTo>
                <a:lnTo>
                  <a:pt x="492" y="484"/>
                </a:lnTo>
                <a:cubicBezTo>
                  <a:pt x="492" y="493"/>
                  <a:pt x="485" y="500"/>
                  <a:pt x="476" y="500"/>
                </a:cubicBezTo>
                <a:lnTo>
                  <a:pt x="16" y="500"/>
                </a:lnTo>
                <a:cubicBezTo>
                  <a:pt x="7" y="500"/>
                  <a:pt x="0" y="493"/>
                  <a:pt x="0" y="4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476" y="0"/>
                </a:lnTo>
                <a:close/>
              </a:path>
            </a:pathLst>
          </a:cu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6" name="" descr="&lt;Slide style={{ width: 1280, height: 720, background: '#FFFFFF', position: 'relative', padding: 0 }} notes={`把整条链路串起来就是：采购到货、分类清点、电脑端打码、打印贴码、手机扫码入库，之后每一次领用出库都留流水。&#10;&#10;部署方面，服务端所有函数都导出成了 SQL 脚本，按顺序跑四个文件就能从零重建整套后端，最后一个是可选的演示数据。另外配了一份面向零基础用户的部署手册，一步一步带，不需要懂数据库。`}&gt;&#10;&#10;    {/* A 区标题块 */}&#10;    &lt;Box style={{ position: 'absolute', left: 70, top: 30, width: 1140, height: 46, flexDirection: 'row', alignItems: 'center', gap: 16 }}&gt;&#10;        &lt;Box style={{ width: 6, height: 34, background: '#2F6DF6', borderRadius: 3 }} /&gt;&#10;        &lt;Text style={{ fontSize: 34, fontWeight: 'bold', color: '#101418' }}&gt;作业链路与部署&lt;/Text&gt;&#10;        &lt;Box style={{ flex: 1 }} /&gt;&#10;        &lt;Text style={{ fontSize: 14, color: '#94A3B8', letterSpacing: 4 }}&gt;WORKFLOW&lt;/Text&gt;&#10;    &lt;/Box&gt;&#10;&#10;    {/* B 区 */}&#10;    &lt;Box style={{ position: 'absolute', left: 70, top: 126, width: 1140, height: 534, flexDirection: 'column' }}&gt;&#10;&#10;        &lt;Text style={{ fontSize: 17, color: '#334155' }}&gt;&#10;            从采购到领用，七个环节全部在系统里留痕，不依赖任何账外表格。&#10;        &lt;/Text&gt;&#10;&#10;        {/* 流程图 */}&#10;        &lt;Box style={{ marginTop: 16 }}&gt;&#10;            &lt;svg width={1140} height={130} viewBox='0 0 1140 130'&gt;&#10;                &lt;defs&gt;&#10;                    &lt;marker id='arw2' markerWidth='9' markerHeight='9' refX='7' refY='4.5' orient='auto'&gt;&#10;                        &lt;path d='M0,0 L9,4.5 L0,9 Z' fill='#94A3B8' /&gt;&#10;                    &lt;/marker&gt;&#10;                &lt;/defs&gt;&#10;&#10;                &lt;rect x='5' y='36' width='134' height='58' rx='12' fill='#F4F6FA' stroke='#D8DFEA' strokeWidth='1.5' /&gt;&#10;                &lt;text x='72' y='71' textAnchor='middle' fontSize='17' fontWeight='bold' fill='#334155'&gt;采购到货&lt;/text&gt;&#10;&#10;                &lt;line x1='139' y1='65' x2='167' y2='65' stroke='#94A3B8' strokeWidth='2' markerEnd='url(#arw2)' /&gt;&#10;&#10;                &lt;rect x='171' y='36' width='134' height='58' rx='12' fill='#F4F6FA' stroke='#D8DFEA' strokeWidth='1.5' /&gt;&#10;                &lt;text x='238' y='71' textAnchor='middle' fontSize='17' fontWeight='bold' fill='#334155'&gt;分类清点&lt;/text&gt;&#10;&#10;                &lt;line x1='305' y1='65' x2='333' y2='65' stroke='#94A3B8' strokeWidth='2' markerEnd='url(#arw2)' /&gt;&#10;&#10;                &lt;rect x='337' y='36' width='134' height='58' rx='12' fill='rgba(249,115,22,0.10)' stroke='#F97316' strokeWidth='1.5' /&gt;&#10;                &lt;text x='404' y='71' textAnchor='middle' fontSize='17' fontWeight='bold' fill='#C2410C'&gt;电脑端打码&lt;/text&gt;&#10;&#10;                &lt;line x1='471' y1='65' x2='499' y2='65' stroke='#94A3B8' strokeWidth='2' markerEnd='url(#arw2)' /&gt;&#10;&#10;                &lt;rect x='503' y='36' width='134' height='58' rx='12' fill='rgba(249,115,22,0.10)' stroke='#F97316' strokeWidth='1.5' /&gt;&#10;                &lt;text x='570' y='71' textAnchor='middle' fontSize='17' fontWeight='bold' fill='#C2410C'&gt;打印贴码&lt;/text&gt;&#10;&#10;                &lt;line x1='637' y1='65' x2='665' y2='65' stroke='#94A3B8' strokeWidth='2' markerEnd='url(#arw2)' /&gt;&#10;&#10;                &lt;rect x='669' y='36' width='134' height='58' rx='12' fill='rgba(47,109,246,0.09)' stroke='#2F6DF6' strokeWidth='1.5' /&gt;&#10;                &lt;text x='736' y='71' textAnchor='middle' fontSize='17' fontWeight='bold' fill='#2F6DF6'&gt;扫码入库&lt;/text&gt;&#10;&#10;                &lt;line x1='803' y1='65' x2='831' y2='65' stroke='#94A3B8' strokeWidth='2' markerEnd='url(#arw2)' /&gt;&#10;&#10;                &lt;rect x='835' y='36' width='134' height='58' rx='12' fill='rgba(47,109,246,0.09)' stroke='#2F6DF6' strokeWidth='1.5' /&gt;&#10;                &lt;text x='902' y='71' textAnchor='middle' fontSize='17' fontWeight='bold' fill='#2F6DF6'&gt;领用出库&lt;/text&gt;&#10;&#10;                &lt;line x1='969' y1='65' x2='997' y2='65' stroke='#94A3B8' strokeWidth='2' markerEnd='url(#arw2)' /&gt;&#10;&#10;                &lt;rect x='1001' y='36' width='134' height='58' rx='12' fill='rgba(12,166,120,0.09)' stroke='#0CA678' strokeWidth='1.5' /&gt;&#10;                &lt;text x='1068' y='71' textAnchor='middle' fontSize='17' fontWeight='bold' fill='#0CA678'&gt;流水追溯&lt;/text&gt;&#10;            &lt;/svg&gt;&#10;        &lt;/Box&gt;&#10;&#10;        {/* 下半：部署要点两栏 */}&#10;        &lt;Box style={{ flexDirection: 'row', gap: 24, marginTop: 22, height: 290 }}&gt;&#10;&#10;            &lt;Box style={{ flex: 1, background: '#F4F6FA', borderRadius: 16, padding: 28, flexDirection: 'column' }}&gt;&#10;                &lt;Box style={{ flexDirection: 'row', alignItems: 'center', gap: 12 }}&gt;&#10;                    &lt;FAIcon name='database' style={{ fill: '#0CA678', width: 24, height: 24 }} /&gt;&#10;                    &lt;Text style={{ fontSize: 21, fontWeight: 'bold', color: '#101418' }}&gt;可复现的后端&lt;/Text&gt;&#10;                &lt;/Box&gt;&#10;                &lt;Text style={{ fontSize: 14, color: '#64748B', marginTop: 8 }}&gt;四个 SQL 脚本按顺序执行，即可从零重建整套后端&lt;/Text&gt;&#10;                &lt;Box style={{ flexDirection: 'column', gap: 10, marginTop: 18 }}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01-schema → 02-functions → 03-bootstrap-admin&lt;/Text&gt;&#10;                    &lt;/Box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04-demo-data（可选，一键灌入演示数据）&lt;/Text&gt;&#10;                    &lt;/Box&gt;&#10;                    &lt;Box style={{ flexDirection: 'row', alignItems: 'center', gap: 10 }}&gt;&#10;                        &lt;Box style={{ width: 6, height: 6, borderRadius: 3, background: '#0CA678' }} /&gt;&#10;                        &lt;Text style={{ fontSize: 15, color: '#334155' }}&gt;引导脚本带改密守卫，避免带默认密码上线&lt;/Text&gt;&#10;                    &lt;/Box&gt;&#10;                &lt;/Box&gt;&#10;            &lt;/Box&gt;&#10;&#10;            &lt;Box style={{ flex: 1, background: '#F4F6FA', borderRadius: 16, padding: 28, flexDirection: 'column' }}&gt;&#10;                &lt;Box style={{ flexDirection: 'row', alignItems: 'center', gap: 12 }}&gt;&#10;                    &lt;FAIcon name='file-lines' style={{ fill: '#2F6DF6', width: 24, height: 24 }} /&gt;&#10;                    &lt;Text style={{ fontSize: 21, fontWeight: 'bold', color: '#101418' }}&gt;零基础部署手册&lt;/Text&gt;&#10;                &lt;/Box&gt;&#10;                &lt;Text style={{ fontSize: 14, color: '#64748B', marginTop: 8 }}&gt;单文件 HTML，双击即读，不依赖任何外部资源&lt;/Text&gt;&#10;                &lt;Box style={{ flexDirection: 'column', gap: 10, marginTop: 18 }}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11 个章节：从装工具到真机发布全流程&lt;/Text&gt;&#10;                    &lt;/Box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19 条常见报错排查表，按报错原文索引&lt;/Text&gt;&#10;                    &lt;/Box&gt;&#10;                    &lt;Box style={{ flexDirection: 'row', alignItems: 'center', gap: 10 }}&gt;&#10;                        &lt;Box style={{ width: 6, height: 6, borderRadius: 3, background: '#2F6DF6' }} /&gt;&#10;                        &lt;Text style={{ fontSize: 15, color: '#334155' }}&gt;代码托管 GitHub，主分支随时可拉取&lt;/Text&gt;&#10;                    &lt;/Box&gt;&#10;                &lt;/Box&gt;&#10;            &lt;/Box&gt;&#10;&#10;        &lt;/Box&gt;&#10;&#10;    &lt;/Box&gt;&#10;&#10;    {/* C 区页脚 */}&#10;    &lt;Box style={{ position: 'absolute', left: 70, top: 664, width: 1140, flexDirection: 'row', justifyContent: 'space-between', alignItems: 'center' }}&gt;&#10;        &lt;Text style={{ fontSize: 13, color: '#94A3B8' }}&gt;仓库物品管理小程序&lt;/Text&gt;&#10;        &lt;Text style={{ fontSize: 13, color: '#94A3B8' }}&gt;14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66675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76300" y="314325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01418"/>
                </a:solidFill>
                <a:latin typeface="Microsoft YaHei"/>
                <a:ea typeface="Microsoft YaHei"/>
              </a:rPr>
              <a:t>作业链路与部署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420350" y="428625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4A3B8"/>
                </a:solidFill>
                <a:latin typeface="Microsoft YaHei"/>
                <a:ea typeface="Microsoft YaHei"/>
              </a:rPr>
              <a:t>WORKFLOW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66750" y="120015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从采购到领用，七个环节全部在系统里留痕，不依赖任何账外表格。</a:t>
            </a:r>
            <a:endParaRPr/>
          </a:p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552575"/>
            <a:ext cx="10858500" cy="1238250"/>
          </a:xfrm>
          <a:prstGeom prst="rect">
            <a:avLst/>
          </a:prstGeom>
          <a:ln/>
        </p:spPr>
      </p:pic>
      <p:sp>
        <p:nvSpPr>
          <p:cNvPr id="143" name=""/>
          <p:cNvSpPr/>
          <p:nvPr/>
        </p:nvSpPr>
        <p:spPr>
          <a:xfrm rot="0" flipH="0" flipV="0">
            <a:off x="666750" y="3000375"/>
            <a:ext cx="5314950" cy="276225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33450" y="3276600"/>
            <a:ext cx="228600" cy="2286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276350" y="326707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01418"/>
                </a:solidFill>
                <a:latin typeface="Microsoft YaHei"/>
                <a:ea typeface="Microsoft YaHei"/>
              </a:rPr>
              <a:t>可复现的后端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33450" y="3590925"/>
            <a:ext cx="478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四个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脚本按顺序执行，即可从零重建整套后端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33450" y="3981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85850" y="39243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01-schema → 02-functions → 03-bootstrap-admin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33450" y="4248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85850" y="41910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04-demo-data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（可选，一键灌入演示数据）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33450" y="4514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85850" y="445770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引导脚本带改密守卫，避免带默认密码上线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210300" y="3000375"/>
            <a:ext cx="5314950" cy="276225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  <p:txBody>
          <a:bodyPr/>
          <a:p/>
        </p:txBody>
      </p:sp>
      <p:pic>
        <p:nvPicPr>
          <p:cNvPr id="1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77000" y="3276600"/>
            <a:ext cx="228600" cy="228600"/>
          </a:xfrm>
          <a:prstGeom prst="rect">
            <a:avLst/>
          </a:prstGeom>
          <a:ln/>
        </p:spPr>
      </p:pic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819900" y="326707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01418"/>
                </a:solidFill>
                <a:latin typeface="Microsoft YaHei"/>
                <a:ea typeface="Microsoft YaHei"/>
              </a:rPr>
              <a:t>零基础部署手册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477000" y="3590925"/>
            <a:ext cx="478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单文件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HTML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，双击即读，不依赖任何外部资源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477000" y="3981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629400" y="3924300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个章节：从装工具到真机发布全流程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477000" y="4248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629400" y="4191000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19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条常见报错排查表，按报错原文索引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477000" y="4514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629400" y="445770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代码托管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GitHub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，主分支随时可拉取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style={{ width: 1280, height: 720, background: '#101418', position: 'relative', padding: 0 }} notes={`这是我做这套东西想达到的状态：仓库里的每一件工具，都有一个码可以扫，都有一笔账可以查。&#10;&#10;扫码的人不用想流程，管账的人不用猜数据。谢谢大家。`}&gt;&#10;&#10;    {/* 背景光晕 */}&#10;    &lt;Box style={{ position: 'absolute', top: -240, left: -180, width: 700, height: 700, borderRadius: 350, background: 'linear-gradient(135deg, rgba(47,109,246,0.45) 0%, rgba(16,20,24,0) 70%)' }} /&gt;&#10;    &lt;Box style={{ position: 'absolute', bottom: -260, right: -160, width: 620, height: 620, borderRadius: 310, background: 'linear-gradient(135deg, rgba(12,166,120,0.28) 0%, rgba(16,20,24,0) 70%)' }} /&gt;&#10;&#10;    {/* 主内容 */}&#10;    &lt;Box style={{ position: 'absolute', left: 84, top: 0, width: 1112, height: 620, flexDirection: 'column', justifyContent: 'center' }}&gt;&#10;&#10;        &lt;Box style={{ flexDirection: 'row', alignItems: 'center', gap: 12 }}&gt;&#10;            &lt;Box style={{ width: 34, height: 4, background: '#2F6DF6', borderRadius: 2 }} /&gt;&#10;            &lt;Text style={{ fontSize: 14, color: '#7C93C4', letterSpacing: 4 }}&gt;THANK YOU&lt;/Text&gt;&#10;        &lt;/Box&gt;&#10;&#10;        &lt;Text style={{ fontSize: 54, fontWeight: 'bold', color: '#FFFFFF', lineHeight: 1.25, marginTop: 26 }}&gt;&#10;            让仓库里的每件工具&lt;br /&gt;都有码可扫、有账可查&#10;        &lt;/Text&gt;&#10;&#10;        &lt;Text style={{ fontSize: 18, color: '#8FA3C8', marginTop: 24, lineHeight: 1.8 }}&gt;&#10;            小程序 · 云数据库 · 电脑端打码工具，三端开箱即用&#10;        &lt;/Text&gt;&#10;&#10;        &lt;Box style={{ flexDirection: 'row', gap: 20, marginTop: 46 }}&gt;&#10;&#10;            &lt;Box style={{ width: 330, paddingLeft: 24, paddingRight: 24, paddingTop: 22, paddingBottom: 22, borderRadius: 14, background: 'rgba(255,255,255,0.05)', border: '1px solid rgba(255,255,255,0.10)' }}&gt;&#10;                &lt;Text style={{ fontSize: 15, fontWeight: 'bold', color: '#8FB4FF' }}&gt;手机端&lt;/Text&gt;&#10;                &lt;Text style={{ fontSize: 14, color: '#C6D2E8', marginTop: 8, lineHeight: 1.6 }}&gt;21 个页面 · 三级后台&lt;br /&gt;扫码出入库与流水追溯&lt;/Text&gt;&#10;            &lt;/Box&gt;&#10;&#10;            &lt;Box style={{ width: 330, paddingLeft: 24, paddingRight: 24, paddingTop: 22, paddingBottom: 22, borderRadius: 14, background: 'rgba(255,255,255,0.05)', border: '1px solid rgba(255,255,255,0.10)' }}&gt;&#10;                &lt;Text style={{ fontSize: 15, fontWeight: 'bold', color: '#63D4AC' }}&gt;后端&lt;/Text&gt;&#10;                &lt;Text style={{ fontSize: 14, color: '#C6D2E8', marginTop: 8, lineHeight: 1.6 }}&gt;4 张业务表 · 30+ 函数&lt;br /&gt;SQL 脚本从零可重建&lt;/Text&gt;&#10;            &lt;/Box&gt;&#10;&#10;            &lt;Box style={{ width: 330, paddingLeft: 24, paddingRight: 24, paddingTop: 22, paddingBottom: 22, borderRadius: 14, background: 'rgba(255,255,255,0.05)', border: '1px solid rgba(255,255,255,0.10)' }}&gt;&#10;                &lt;Text style={{ fontSize: 15, fontWeight: 'bold', color: '#FFB077' }}&gt;交付物&lt;/Text&gt;&#10;                &lt;Text style={{ fontSize: 14, color: '#C6D2E8', marginTop: 8, lineHeight: 1.6 }}&gt;源码 + 部署手册 + 打码工具&lt;br /&gt;零基础也能在本机跑起来&lt;/Text&gt;&#10;            &lt;/Box&gt;&#10;&#10;        &lt;/Box&gt;&#10;&#10;    &lt;/Box&gt;&#10;&#10;    {/* C 区页脚 */}&#10;    &lt;Box style={{ position: 'absolute', left: 84, top: 664, width: 1112, flexDirection: 'row', justifyContent: 'space-between', alignItems: 'center' }}&gt;&#10;        &lt;Text style={{ fontSize: 13, color: '#4A5A75' }}&gt;仓库物品管理小程序&lt;/Text&gt;&#10;        &lt;Text style={{ fontSize: 13, color: '#4A5A75' }}&gt;15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-1714500" y="-2286000"/>
            <a:ext cx="6667500" cy="6667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6DF6">
                  <a:alpha val="45000"/>
                </a:srgbClr>
              </a:gs>
              <a:gs pos="70000">
                <a:srgbClr val="101418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810500" y="3429000"/>
            <a:ext cx="5905500" cy="590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A678">
                  <a:alpha val="28000"/>
                </a:srgbClr>
              </a:gs>
              <a:gs pos="70000">
                <a:srgbClr val="101418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00100" y="93345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2F6DF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238250" y="8667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7C93C4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0100" y="1276350"/>
            <a:ext cx="10591800" cy="15430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让仓库里的每件工具</a:t>
            </a:r>
            <a:endParaRPr/>
          </a:p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都有码可扫、有账可查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3048000"/>
            <a:ext cx="10591800" cy="3714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8FA3C8"/>
                </a:solidFill>
                <a:latin typeface="Microsoft YaHei"/>
                <a:ea typeface="Microsoft YaHei"/>
              </a:rPr>
              <a:t>小程序</a:t>
            </a:r>
            <a:r>
              <a:rPr lang="en-US" sz="1350">
                <a:solidFill>
                  <a:srgbClr val="8FA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FA3C8"/>
                </a:solidFill>
                <a:latin typeface="Microsoft YaHei"/>
                <a:ea typeface="Microsoft YaHei"/>
              </a:rPr>
              <a:t>云数据库</a:t>
            </a:r>
            <a:r>
              <a:rPr lang="en-US" sz="1350">
                <a:solidFill>
                  <a:srgbClr val="8FA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FA3C8"/>
                </a:solidFill>
                <a:latin typeface="Microsoft YaHei"/>
                <a:ea typeface="Microsoft YaHei"/>
              </a:rPr>
              <a:t>电脑端打码工具，三端开箱即用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00100" y="3857625"/>
            <a:ext cx="3143250" cy="1181100"/>
          </a:xfrm>
          <a:prstGeom prst="roundRect">
            <a:avLst>
              <a:gd name="adj" fmla="val 112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28700" y="4067175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FB4FF"/>
                </a:solidFill>
                <a:latin typeface="Microsoft YaHei"/>
                <a:ea typeface="Microsoft YaHei"/>
              </a:rPr>
              <a:t>手机端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28700" y="4314825"/>
            <a:ext cx="2686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21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个页面</a:t>
            </a: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三级后台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扫码出入库与流水追溯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133850" y="3857625"/>
            <a:ext cx="3143250" cy="1181100"/>
          </a:xfrm>
          <a:prstGeom prst="roundRect">
            <a:avLst>
              <a:gd name="adj" fmla="val 112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362450" y="4067175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3D4AC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362450" y="4314825"/>
            <a:ext cx="2686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张业务表</a:t>
            </a: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 · 30+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函数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脚本从零可重建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467600" y="3857625"/>
            <a:ext cx="3143250" cy="1181100"/>
          </a:xfrm>
          <a:prstGeom prst="roundRect">
            <a:avLst>
              <a:gd name="adj" fmla="val 112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696200" y="4067175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B077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696200" y="4314825"/>
            <a:ext cx="2686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源码</a:t>
            </a: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部署手册</a:t>
            </a:r>
            <a:r>
              <a:rPr lang="en-US" sz="1050">
                <a:solidFill>
                  <a:srgbClr val="C6D2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打码工具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C6D2E8"/>
                </a:solidFill>
                <a:latin typeface="Microsoft YaHei"/>
                <a:ea typeface="Microsoft YaHei"/>
              </a:rPr>
              <a:t>零基础也能在本机跑起来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0100" y="6324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A75"/>
                </a:solidFill>
                <a:latin typeface="Microsoft YaHei"/>
                <a:ea typeface="Microsoft YaHei"/>
              </a:rPr>
              <a:t>仓库物品管理小程序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97280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A75"/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2026-10-09T09:33:40Z</dcterms:created>
  <dcterms:modified xsi:type="dcterms:W3CDTF">2026-10-09T09:33:40Z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{"AIGC":{"Label":"1","ContentProducer":"00119111010856365494821B355","ProduceID":"01a11c25d2a571bcbbd878a7e26189ea","ReservedCode1":"","ContentPropagator":"00119111010856365494821B355","PropagateID":"01a11c25d2a571bcbbd878a7e26189ea","ReservedCode2":""}}</vt:lpwstr>
  </property>
</Properties>
</file>